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how we evaluate agents in Microsoft Foundry end to end: which agents we can evaluate, the three evaluation modes, the evaluators we use and how we combine them into one weighted score, and the practical constraint we hit when invoking evaluations from Python against VNET-restricted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parts. The first half is about what we evaluate and how the data gets in; the second half is about how we score it and how we run it from Python inside a locked-down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all three. Prompt agents are configuration only: model, instructions, tools. Hosted agents are our own containers running in Foundry Agent Service. Both can be called directly by an evaluation run as a target. External agents run outside Foundry; we attach them by sending OpenTelemetry spans to the project’s Application Insights and linking them, so their traces can be evaluated in the same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evaluation is a container that fixes the item schema and the testing criteria; every run under it produces the same metrics, which is what makes runs comparable across agent versions. Pre-release we run batch evaluations; in production, continuous evaluation keeps scoring sampled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framework on top of Foundry. Each test case carries the question, the expected answer, its category and any structured checks. We capture the retrieved evidence and the generated answer with its citations, then run agent, RAG, rubric, safety and MNG-specific evaluators in parallel. Specialised signals come first; the transparent hard-gate decision and the JSON and four-sheet Excel reports come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comes down to what you have. If you have questions, let Foundry run the agent. If you already have answers, score them directly. If the agent has been live, score its traces. The next three slides go through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agent-target mode. The data source type azure_ai_target_completions tells Foundry to call the agent for each row. The same code works for prompt agents and for hosted agents on the responses protocol; leaving out the version uses the latest. The dataset is referenced by its id, which matters later for the VNET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Foundry does not touch the agent at all. We upload the finished question-and-answer pairs and the evaluators score them. This is how we evaluated outputs produced outside Foundry and re-scored earlier runs when we changed evaluators. Note the data source points at a file id rather than carrying the rows inline; that becomes important with VNET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Application Insights is connected, prompt and hosted agents are traced automatically; external agents send their own OpenTelemetry spans. From those traces we can run trace evaluations over past interactions, turn on continuous evaluation for live traffic, or convert good traces into evaluation datasets. In a network-isolated setup, remember to allow the Application Insights endpoints, otherwise no traces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to bring an outside agent in. Linking an external agent is the lightweight path: the agent keeps running where it is, emits OpenTelemetry spans to the project’s Application Insights, and Foundry matches them to the registered agent. That is all evaluation needs. The Control Plane path additionally proxies traffic through an AI Gateway, which is about access control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Built-in evaluators cover the common ground: agent behavior, response quality, similarity to references and safety. Where they stop, we add custom evaluators and a rubric. LLM-judge evaluators take the judge model through initialization_parameters with a deployment_name. Note some features, such as rubric generation and the risk and safety evaluators, are limited to certain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evaluators are where domain knowledge goes. Code evaluators are best for checks you can write as rules: format, required citations, exact matches. Prompt evaluators are for judgment calls you can describe in words. The grade function shown is an illustration of a rule we can encode; real weights and rules depend on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rubric is Microsoft’s recommended primary measure for agents. The example is the one in Microsoft’s documentation: strong intent recognition and clarity, weaker task completion because the agent didn’t return the data before replying. Weights let the business decide what matters most, and the per-dimension reasons tell us exactly what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own rubric for medical necessity guidelines. Policy-logic fidelity carries the most weight at 30 percent; evidence sufficiency and product-specific criteria 20 percent each; HCPCS code mapping and the plan, authorization, notification and version checks 15 percent each. Each dimension is scored 1 to 5. A dimension below 3 is a diagnostic flag that tells us where to look, but only the weighted aggregate decides pass or fail, so one weak dimension can’t fail a case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Outside the portal we drive everything from Python. The project client gives us datasets and evaluators; get_openai_client gives the Evals API, where evals.create defines the evaluation and evals.runs.create starts a run. The run executes in Foundry; our code only submits and polls. Results land in the portal under Evaluations and are also readable through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failure we hit on the trace evaluation. The pipeline generated all 947 responses successfully, then tried to send about 32.1 megabytes as inline file_content. Our VNet evaluation endpoint accepts only 2,097,152 bytes, two megabytes, of inline data, so run creation failed before any metric executed. The fix changes only how data is submitted: write the items to JSONL, upload them as a versioned Foundry dataset, and create the run with the returned dataset id. This is also Microsoft’s recommended pattern for production and CI/CD; inline file_content is meant for small sets. Microsoft’s public docs list a 2 MB per-row limit but don’t document this inline cap; the 2,097,152-byte figure comes from our endpoint’s own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datasets in place, we still batch: 947 cases become 38 batches of 25, the last one holding 22. Each batch is its own versioned dataset and its own run, which keeps runs small, lets us retry a single failed batch, and keeps every payload far below any size limit. After polling every run to a terminal status we download the output items, merge them by case_id, and feed them into the existing metric mapping, the MNG rubric, the hard gates and the JSON and Excel reports, none of which changed. Leaving FOUNDRY_DATASET_VERSION blank generates a unique version per run. write_jsonl, fetch_output_items and merge_by_case_id are our helpers.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run gives aggregate counts and per-row detail with the judge’s reasoning. Because we batch, the portal shows several runs for one logical evaluation, so we fetch the output items of every batch run and compute the composite ourselves. From there: compare versions, use cluster analysis to find failure patterns, gate deployments in CI/CD, and keep continuous evaluation running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take away. Everything converges in the Foundry project, whatever kind of agent it is. The evaluation mode follows from the data you have. Scoring is layered and transparent: every evaluator keeps its reason, and only the weighted MNG rubric aggregate gates a case. And from Python inside the VNet, inline file_content is capped at 2 MB, so we upload datasets, reference them by id, batch, and merge the results by case_id.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A65A"/>
                </a:solidFill>
                <a:latin typeface="IBM Plex Sans" pitchFamily="34" charset="0"/>
                <a:ea typeface="IBM Plex Sans" pitchFamily="34" charset="-122"/>
                <a:cs typeface="IBM Plex Sans" pitchFamily="34" charset="-120"/>
              </a:rPr>
              <a:t>MICROSOFT FOUNDRY · OBSERVABILITY &amp; EVALUATION</a:t>
            </a:r>
            <a:endParaRPr lang="en-US" sz="1300" dirty="0"/>
          </a:p>
        </p:txBody>
      </p:sp>
      <p:sp>
        <p:nvSpPr>
          <p:cNvPr id="3" name="Text 1"/>
          <p:cNvSpPr/>
          <p:nvPr>
            <p:ph type="title"/>
          </p:nvPr>
        </p:nvSpPr>
        <p:spPr>
          <a:xfrm>
            <a:off x="812800" y="2292400"/>
            <a:ext cx="10883392" cy="141218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6F7F4"/>
                </a:solidFill>
                <a:latin typeface="IBM Plex Sans" pitchFamily="34" charset="0"/>
                <a:ea typeface="IBM Plex Sans" pitchFamily="34" charset="-122"/>
                <a:cs typeface="IBM Plex Sans" pitchFamily="34" charset="-120"/>
              </a:rPr>
              <a:t>Evaluating agents in Microsoft Foundry</a:t>
            </a:r>
            <a:endParaRPr lang="en-US" sz="5200" dirty="0"/>
          </a:p>
        </p:txBody>
      </p:sp>
      <p:sp>
        <p:nvSpPr>
          <p:cNvPr id="4" name="Text 2"/>
          <p:cNvSpPr/>
          <p:nvPr/>
        </p:nvSpPr>
        <p:spPr>
          <a:xfrm>
            <a:off x="812800" y="3907780"/>
            <a:ext cx="91567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8C4D6"/>
                </a:solidFill>
                <a:latin typeface="IBM Plex Sans" pitchFamily="34" charset="0"/>
                <a:ea typeface="IBM Plex Sans" pitchFamily="34" charset="-122"/>
                <a:cs typeface="IBM Plex Sans" pitchFamily="34" charset="-120"/>
              </a:rPr>
              <a:t>Prompt, hosted and external agents — evaluated on uploaded data, existing data and traces, with custom and rubric evaluators rolled into one weighted score.</a:t>
            </a:r>
            <a:endParaRPr lang="en-US" sz="1800" dirty="0"/>
          </a:p>
        </p:txBody>
      </p:sp>
      <p:sp>
        <p:nvSpPr>
          <p:cNvPr id="5" name="Shape 3"/>
          <p:cNvSpPr/>
          <p:nvPr/>
        </p:nvSpPr>
        <p:spPr>
          <a:xfrm>
            <a:off x="812800" y="5901680"/>
            <a:ext cx="457200" cy="38100"/>
          </a:xfrm>
          <a:prstGeom prst="rect">
            <a:avLst/>
          </a:prstGeom>
          <a:solidFill>
            <a:srgbClr val="E07A2E"/>
          </a:solidFill>
          <a:ln/>
        </p:spPr>
      </p:sp>
      <p:sp>
        <p:nvSpPr>
          <p:cNvPr id="6" name="Text 4"/>
          <p:cNvSpPr/>
          <p:nvPr/>
        </p:nvSpPr>
        <p:spPr>
          <a:xfrm>
            <a:off x="1422400" y="5796310"/>
            <a:ext cx="324606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D6"/>
                </a:solidFill>
                <a:latin typeface="IBM Plex Sans" pitchFamily="34" charset="0"/>
                <a:ea typeface="IBM Plex Sans" pitchFamily="34" charset="-122"/>
                <a:cs typeface="IBM Plex Sans" pitchFamily="34" charset="-120"/>
              </a:rPr>
              <a:t>[Presenter / team]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D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AGENDA</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What this deck covers</a:t>
            </a:r>
            <a:endParaRPr lang="en-US" sz="3200" dirty="0"/>
          </a:p>
        </p:txBody>
      </p:sp>
      <p:sp>
        <p:nvSpPr>
          <p:cNvPr id="4" name="Text 2"/>
          <p:cNvSpPr/>
          <p:nvPr/>
        </p:nvSpPr>
        <p:spPr>
          <a:xfrm>
            <a:off x="812800" y="1981150"/>
            <a:ext cx="2946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8C8"/>
                </a:solidFill>
                <a:latin typeface="JetBrains Mono" pitchFamily="49" charset="0"/>
                <a:ea typeface="JetBrains Mono" pitchFamily="49" charset="-122"/>
                <a:cs typeface="JetBrains Mono" pitchFamily="49" charset="-120"/>
              </a:rPr>
              <a:t>01</a:t>
            </a:r>
            <a:endParaRPr lang="en-US" sz="1600" dirty="0"/>
          </a:p>
        </p:txBody>
      </p:sp>
      <p:sp>
        <p:nvSpPr>
          <p:cNvPr id="5" name="Text 3"/>
          <p:cNvSpPr/>
          <p:nvPr/>
        </p:nvSpPr>
        <p:spPr>
          <a:xfrm>
            <a:off x="1234480" y="1981150"/>
            <a:ext cx="356533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Agent types</a:t>
            </a:r>
            <a:endParaRPr lang="en-US" sz="1700" dirty="0"/>
          </a:p>
        </p:txBody>
      </p:sp>
      <p:sp>
        <p:nvSpPr>
          <p:cNvPr id="6" name="Text 4"/>
          <p:cNvSpPr/>
          <p:nvPr/>
        </p:nvSpPr>
        <p:spPr>
          <a:xfrm>
            <a:off x="1234480" y="2278311"/>
            <a:ext cx="415379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Prompt, hosted and external agents in Foundry</a:t>
            </a:r>
            <a:endParaRPr lang="en-US" sz="1300" dirty="0"/>
          </a:p>
        </p:txBody>
      </p:sp>
      <p:sp>
        <p:nvSpPr>
          <p:cNvPr id="7" name="Text 5"/>
          <p:cNvSpPr/>
          <p:nvPr/>
        </p:nvSpPr>
        <p:spPr>
          <a:xfrm>
            <a:off x="6235700" y="1981150"/>
            <a:ext cx="2946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8C8"/>
                </a:solidFill>
                <a:latin typeface="JetBrains Mono" pitchFamily="49" charset="0"/>
                <a:ea typeface="JetBrains Mono" pitchFamily="49" charset="-122"/>
                <a:cs typeface="JetBrains Mono" pitchFamily="49" charset="-120"/>
              </a:rPr>
              <a:t>05</a:t>
            </a:r>
            <a:endParaRPr lang="en-US" sz="1600" dirty="0"/>
          </a:p>
        </p:txBody>
      </p:sp>
      <p:sp>
        <p:nvSpPr>
          <p:cNvPr id="8" name="Text 6"/>
          <p:cNvSpPr/>
          <p:nvPr/>
        </p:nvSpPr>
        <p:spPr>
          <a:xfrm>
            <a:off x="6657380" y="1981150"/>
            <a:ext cx="319074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Evaluators</a:t>
            </a:r>
            <a:endParaRPr lang="en-US" sz="1700" dirty="0"/>
          </a:p>
        </p:txBody>
      </p:sp>
      <p:sp>
        <p:nvSpPr>
          <p:cNvPr id="9" name="Text 7"/>
          <p:cNvSpPr/>
          <p:nvPr/>
        </p:nvSpPr>
        <p:spPr>
          <a:xfrm>
            <a:off x="6657380" y="2278311"/>
            <a:ext cx="371736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Built-in, custom code / prompt, and rubric</a:t>
            </a:r>
            <a:endParaRPr lang="en-US" sz="1300" dirty="0"/>
          </a:p>
        </p:txBody>
      </p:sp>
      <p:sp>
        <p:nvSpPr>
          <p:cNvPr id="10" name="Text 8"/>
          <p:cNvSpPr/>
          <p:nvPr/>
        </p:nvSpPr>
        <p:spPr>
          <a:xfrm>
            <a:off x="812800" y="2788841"/>
            <a:ext cx="2946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8C8"/>
                </a:solidFill>
                <a:latin typeface="JetBrains Mono" pitchFamily="49" charset="0"/>
                <a:ea typeface="JetBrains Mono" pitchFamily="49" charset="-122"/>
                <a:cs typeface="JetBrains Mono" pitchFamily="49" charset="-120"/>
              </a:rPr>
              <a:t>02</a:t>
            </a:r>
            <a:endParaRPr lang="en-US" sz="1600" dirty="0"/>
          </a:p>
        </p:txBody>
      </p:sp>
      <p:sp>
        <p:nvSpPr>
          <p:cNvPr id="11" name="Text 9"/>
          <p:cNvSpPr/>
          <p:nvPr/>
        </p:nvSpPr>
        <p:spPr>
          <a:xfrm>
            <a:off x="1234480" y="2788841"/>
            <a:ext cx="313683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The evaluation lifecycle</a:t>
            </a:r>
            <a:endParaRPr lang="en-US" sz="1700" dirty="0"/>
          </a:p>
        </p:txBody>
      </p:sp>
      <p:sp>
        <p:nvSpPr>
          <p:cNvPr id="12" name="Text 10"/>
          <p:cNvSpPr/>
          <p:nvPr/>
        </p:nvSpPr>
        <p:spPr>
          <a:xfrm>
            <a:off x="1234480" y="3086001"/>
            <a:ext cx="365456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From dataset to scored, comparable runs</a:t>
            </a:r>
            <a:endParaRPr lang="en-US" sz="1300" dirty="0"/>
          </a:p>
        </p:txBody>
      </p:sp>
      <p:sp>
        <p:nvSpPr>
          <p:cNvPr id="13" name="Text 11"/>
          <p:cNvSpPr/>
          <p:nvPr/>
        </p:nvSpPr>
        <p:spPr>
          <a:xfrm>
            <a:off x="6235700" y="2788841"/>
            <a:ext cx="2946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8C8"/>
                </a:solidFill>
                <a:latin typeface="JetBrains Mono" pitchFamily="49" charset="0"/>
                <a:ea typeface="JetBrains Mono" pitchFamily="49" charset="-122"/>
                <a:cs typeface="JetBrains Mono" pitchFamily="49" charset="-120"/>
              </a:rPr>
              <a:t>06</a:t>
            </a:r>
            <a:endParaRPr lang="en-US" sz="1600" dirty="0"/>
          </a:p>
        </p:txBody>
      </p:sp>
      <p:sp>
        <p:nvSpPr>
          <p:cNvPr id="14" name="Text 12"/>
          <p:cNvSpPr/>
          <p:nvPr/>
        </p:nvSpPr>
        <p:spPr>
          <a:xfrm>
            <a:off x="6657380" y="2788841"/>
            <a:ext cx="298395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Weighted scoring</a:t>
            </a:r>
            <a:endParaRPr lang="en-US" sz="1700" dirty="0"/>
          </a:p>
        </p:txBody>
      </p:sp>
      <p:sp>
        <p:nvSpPr>
          <p:cNvPr id="15" name="Text 13"/>
          <p:cNvSpPr/>
          <p:nvPr/>
        </p:nvSpPr>
        <p:spPr>
          <a:xfrm>
            <a:off x="6657380" y="3086001"/>
            <a:ext cx="347644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One composite score across evaluators</a:t>
            </a:r>
            <a:endParaRPr lang="en-US" sz="1300" dirty="0"/>
          </a:p>
        </p:txBody>
      </p:sp>
      <p:sp>
        <p:nvSpPr>
          <p:cNvPr id="16" name="Text 14"/>
          <p:cNvSpPr/>
          <p:nvPr/>
        </p:nvSpPr>
        <p:spPr>
          <a:xfrm>
            <a:off x="812800" y="3596531"/>
            <a:ext cx="2946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8C8"/>
                </a:solidFill>
                <a:latin typeface="JetBrains Mono" pitchFamily="49" charset="0"/>
                <a:ea typeface="JetBrains Mono" pitchFamily="49" charset="-122"/>
                <a:cs typeface="JetBrains Mono" pitchFamily="49" charset="-120"/>
              </a:rPr>
              <a:t>03</a:t>
            </a:r>
            <a:endParaRPr lang="en-US" sz="1600" dirty="0"/>
          </a:p>
        </p:txBody>
      </p:sp>
      <p:sp>
        <p:nvSpPr>
          <p:cNvPr id="17" name="Text 15"/>
          <p:cNvSpPr/>
          <p:nvPr/>
        </p:nvSpPr>
        <p:spPr>
          <a:xfrm>
            <a:off x="1234480" y="3596531"/>
            <a:ext cx="273633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Three evaluation modes</a:t>
            </a:r>
            <a:endParaRPr lang="en-US" sz="1700" dirty="0"/>
          </a:p>
        </p:txBody>
      </p:sp>
      <p:sp>
        <p:nvSpPr>
          <p:cNvPr id="18" name="Text 16"/>
          <p:cNvSpPr/>
          <p:nvPr/>
        </p:nvSpPr>
        <p:spPr>
          <a:xfrm>
            <a:off x="1234480" y="3893691"/>
            <a:ext cx="318795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Uploaded data, existing data, traces</a:t>
            </a:r>
            <a:endParaRPr lang="en-US" sz="1300" dirty="0"/>
          </a:p>
        </p:txBody>
      </p:sp>
      <p:sp>
        <p:nvSpPr>
          <p:cNvPr id="19" name="Text 17"/>
          <p:cNvSpPr/>
          <p:nvPr/>
        </p:nvSpPr>
        <p:spPr>
          <a:xfrm>
            <a:off x="6235700" y="3596531"/>
            <a:ext cx="2946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8C8"/>
                </a:solidFill>
                <a:latin typeface="JetBrains Mono" pitchFamily="49" charset="0"/>
                <a:ea typeface="JetBrains Mono" pitchFamily="49" charset="-122"/>
                <a:cs typeface="JetBrains Mono" pitchFamily="49" charset="-120"/>
              </a:rPr>
              <a:t>07</a:t>
            </a:r>
            <a:endParaRPr lang="en-US" sz="1600" dirty="0"/>
          </a:p>
        </p:txBody>
      </p:sp>
      <p:sp>
        <p:nvSpPr>
          <p:cNvPr id="20" name="Text 18"/>
          <p:cNvSpPr/>
          <p:nvPr/>
        </p:nvSpPr>
        <p:spPr>
          <a:xfrm>
            <a:off x="6657380" y="3596531"/>
            <a:ext cx="325415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Python + VNET endpoints</a:t>
            </a:r>
            <a:endParaRPr lang="en-US" sz="1700" dirty="0"/>
          </a:p>
        </p:txBody>
      </p:sp>
      <p:sp>
        <p:nvSpPr>
          <p:cNvPr id="21" name="Text 19"/>
          <p:cNvSpPr/>
          <p:nvPr/>
        </p:nvSpPr>
        <p:spPr>
          <a:xfrm>
            <a:off x="6657380" y="3893691"/>
            <a:ext cx="379124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2 MB inline cap, dataset IDs, batches of 25</a:t>
            </a:r>
            <a:endParaRPr lang="en-US" sz="1300" dirty="0"/>
          </a:p>
        </p:txBody>
      </p:sp>
      <p:sp>
        <p:nvSpPr>
          <p:cNvPr id="22" name="Text 20"/>
          <p:cNvSpPr/>
          <p:nvPr/>
        </p:nvSpPr>
        <p:spPr>
          <a:xfrm>
            <a:off x="812800" y="4404221"/>
            <a:ext cx="2946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8C8"/>
                </a:solidFill>
                <a:latin typeface="JetBrains Mono" pitchFamily="49" charset="0"/>
                <a:ea typeface="JetBrains Mono" pitchFamily="49" charset="-122"/>
                <a:cs typeface="JetBrains Mono" pitchFamily="49" charset="-120"/>
              </a:rPr>
              <a:t>04</a:t>
            </a:r>
            <a:endParaRPr lang="en-US" sz="1600" dirty="0"/>
          </a:p>
        </p:txBody>
      </p:sp>
      <p:sp>
        <p:nvSpPr>
          <p:cNvPr id="23" name="Text 21"/>
          <p:cNvSpPr/>
          <p:nvPr/>
        </p:nvSpPr>
        <p:spPr>
          <a:xfrm>
            <a:off x="1234480" y="4404221"/>
            <a:ext cx="382113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Attaching external agents</a:t>
            </a:r>
            <a:endParaRPr lang="en-US" sz="1700" dirty="0"/>
          </a:p>
        </p:txBody>
      </p:sp>
      <p:sp>
        <p:nvSpPr>
          <p:cNvPr id="24" name="Text 22"/>
          <p:cNvSpPr/>
          <p:nvPr/>
        </p:nvSpPr>
        <p:spPr>
          <a:xfrm>
            <a:off x="1234480" y="4701381"/>
            <a:ext cx="445180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OpenTelemetry → Application Insights → Foundry</a:t>
            </a:r>
            <a:endParaRPr lang="en-US" sz="1300" dirty="0"/>
          </a:p>
        </p:txBody>
      </p:sp>
      <p:sp>
        <p:nvSpPr>
          <p:cNvPr id="25" name="Text 23"/>
          <p:cNvSpPr/>
          <p:nvPr/>
        </p:nvSpPr>
        <p:spPr>
          <a:xfrm>
            <a:off x="6235700" y="4404221"/>
            <a:ext cx="2946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8C8"/>
                </a:solidFill>
                <a:latin typeface="JetBrains Mono" pitchFamily="49" charset="0"/>
                <a:ea typeface="JetBrains Mono" pitchFamily="49" charset="-122"/>
                <a:cs typeface="JetBrains Mono" pitchFamily="49" charset="-120"/>
              </a:rPr>
              <a:t>08</a:t>
            </a:r>
            <a:endParaRPr lang="en-US" sz="1600" dirty="0"/>
          </a:p>
        </p:txBody>
      </p:sp>
      <p:sp>
        <p:nvSpPr>
          <p:cNvPr id="26" name="Text 24"/>
          <p:cNvSpPr/>
          <p:nvPr/>
        </p:nvSpPr>
        <p:spPr>
          <a:xfrm>
            <a:off x="6657380" y="4404221"/>
            <a:ext cx="31327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Results &amp; takeaways</a:t>
            </a:r>
            <a:endParaRPr lang="en-US" sz="1700" dirty="0"/>
          </a:p>
        </p:txBody>
      </p:sp>
      <p:sp>
        <p:nvSpPr>
          <p:cNvPr id="27" name="Text 25"/>
          <p:cNvSpPr/>
          <p:nvPr/>
        </p:nvSpPr>
        <p:spPr>
          <a:xfrm>
            <a:off x="6657380" y="4701381"/>
            <a:ext cx="364980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Reading runs, comparing, gating releases</a:t>
            </a:r>
            <a:endParaRPr lang="en-US" sz="13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01 · AGENT TYPES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Three kinds of agents, one evaluation surface</a:t>
            </a:r>
            <a:endParaRPr lang="en-US" sz="3200" dirty="0"/>
          </a:p>
        </p:txBody>
      </p:sp>
      <p:sp>
        <p:nvSpPr>
          <p:cNvPr id="4" name="Shape 2"/>
          <p:cNvSpPr/>
          <p:nvPr/>
        </p:nvSpPr>
        <p:spPr>
          <a:xfrm>
            <a:off x="815975" y="1882725"/>
            <a:ext cx="3380284" cy="3122861"/>
          </a:xfrm>
          <a:prstGeom prst="roundRect">
            <a:avLst>
              <a:gd name="adj" fmla="val 3152"/>
            </a:avLst>
          </a:prstGeom>
          <a:solidFill>
            <a:srgbClr val="FCFCFA"/>
          </a:solidFill>
          <a:ln w="6350">
            <a:solidFill>
              <a:srgbClr val="D6DCE4"/>
            </a:solidFill>
            <a:prstDash val="solid"/>
          </a:ln>
        </p:spPr>
      </p:sp>
      <p:pic>
        <p:nvPicPr>
          <p:cNvPr id="5" name="Image 0" descr="Chat">    </p:cNvPr>
          <p:cNvPicPr>
            <a:picLocks noChangeAspect="1"/>
          </p:cNvPicPr>
          <p:nvPr/>
        </p:nvPicPr>
        <p:blipFill>
          <a:blip r:embed="rId1"/>
          <a:srcRect l="0" r="0" t="0" b="0"/>
          <a:stretch/>
        </p:blipFill>
        <p:spPr>
          <a:xfrm>
            <a:off x="1073150" y="2139900"/>
            <a:ext cx="304800" cy="304800"/>
          </a:xfrm>
          <a:prstGeom prst="rect">
            <a:avLst/>
          </a:prstGeom>
        </p:spPr>
      </p:pic>
      <p:sp>
        <p:nvSpPr>
          <p:cNvPr id="6" name="Text 3"/>
          <p:cNvSpPr/>
          <p:nvPr/>
        </p:nvSpPr>
        <p:spPr>
          <a:xfrm>
            <a:off x="1073150" y="2571700"/>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Prompt agent</a:t>
            </a:r>
            <a:endParaRPr lang="en-US" sz="2000" dirty="0"/>
          </a:p>
        </p:txBody>
      </p:sp>
      <p:sp>
        <p:nvSpPr>
          <p:cNvPr id="7" name="Text 4"/>
          <p:cNvSpPr/>
          <p:nvPr/>
        </p:nvSpPr>
        <p:spPr>
          <a:xfrm>
            <a:off x="1073150" y="3003500"/>
            <a:ext cx="295191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A model deployment plus instructions and tools, defined in the portal or SDK — no code to host.</a:t>
            </a:r>
            <a:endParaRPr lang="en-US" sz="1300" dirty="0"/>
          </a:p>
        </p:txBody>
      </p:sp>
      <p:sp>
        <p:nvSpPr>
          <p:cNvPr id="8" name="Text 5"/>
          <p:cNvSpPr/>
          <p:nvPr/>
        </p:nvSpPr>
        <p:spPr>
          <a:xfrm>
            <a:off x="1158494" y="3823891"/>
            <a:ext cx="2858948" cy="94992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Versioned by name + version</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Direct eval target (azure_ai_agent)</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Auto-traced via Application Insights</a:t>
            </a:r>
            <a:endParaRPr lang="en-US" sz="1300" dirty="0"/>
          </a:p>
        </p:txBody>
      </p:sp>
      <p:sp>
        <p:nvSpPr>
          <p:cNvPr id="9" name="Shape 6"/>
          <p:cNvSpPr/>
          <p:nvPr/>
        </p:nvSpPr>
        <p:spPr>
          <a:xfrm>
            <a:off x="4405809" y="1882725"/>
            <a:ext cx="3380333" cy="3122861"/>
          </a:xfrm>
          <a:prstGeom prst="roundRect">
            <a:avLst>
              <a:gd name="adj" fmla="val 3152"/>
            </a:avLst>
          </a:prstGeom>
          <a:solidFill>
            <a:srgbClr val="FCFCFA"/>
          </a:solidFill>
          <a:ln w="6350">
            <a:solidFill>
              <a:srgbClr val="D6DCE4"/>
            </a:solidFill>
            <a:prstDash val="solid"/>
          </a:ln>
        </p:spPr>
      </p:sp>
      <p:pic>
        <p:nvPicPr>
          <p:cNvPr id="10" name="Image 1" descr="Cloud">    </p:cNvPr>
          <p:cNvPicPr>
            <a:picLocks noChangeAspect="1"/>
          </p:cNvPicPr>
          <p:nvPr/>
        </p:nvPicPr>
        <p:blipFill>
          <a:blip r:embed="rId2"/>
          <a:srcRect l="0" r="0" t="0" b="0"/>
          <a:stretch/>
        </p:blipFill>
        <p:spPr>
          <a:xfrm>
            <a:off x="4662984" y="2139900"/>
            <a:ext cx="304800" cy="304800"/>
          </a:xfrm>
          <a:prstGeom prst="rect">
            <a:avLst/>
          </a:prstGeom>
        </p:spPr>
      </p:pic>
      <p:sp>
        <p:nvSpPr>
          <p:cNvPr id="11" name="Text 7"/>
          <p:cNvSpPr/>
          <p:nvPr/>
        </p:nvSpPr>
        <p:spPr>
          <a:xfrm>
            <a:off x="4662984" y="2571700"/>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Hosted agent</a:t>
            </a:r>
            <a:endParaRPr lang="en-US" sz="2000" dirty="0"/>
          </a:p>
        </p:txBody>
      </p:sp>
      <p:sp>
        <p:nvSpPr>
          <p:cNvPr id="12" name="Text 8"/>
          <p:cNvSpPr/>
          <p:nvPr/>
        </p:nvSpPr>
        <p:spPr>
          <a:xfrm>
            <a:off x="4662984" y="3003500"/>
            <a:ext cx="295196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Your own container — Agent Framework, LangGraph or custom code — run by Foundry Agent Service.</a:t>
            </a:r>
            <a:endParaRPr lang="en-US" sz="1300" dirty="0"/>
          </a:p>
        </p:txBody>
      </p:sp>
      <p:sp>
        <p:nvSpPr>
          <p:cNvPr id="13" name="Text 9"/>
          <p:cNvSpPr/>
          <p:nvPr/>
        </p:nvSpPr>
        <p:spPr>
          <a:xfrm>
            <a:off x="4748328" y="3823891"/>
            <a:ext cx="2858999" cy="94992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Responses or invocations protocol</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Same eval target as prompt agents</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Auto-traced via Application Insights</a:t>
            </a:r>
            <a:endParaRPr lang="en-US" sz="1300" dirty="0"/>
          </a:p>
        </p:txBody>
      </p:sp>
      <p:sp>
        <p:nvSpPr>
          <p:cNvPr id="14" name="Shape 10"/>
          <p:cNvSpPr/>
          <p:nvPr/>
        </p:nvSpPr>
        <p:spPr>
          <a:xfrm>
            <a:off x="7995692" y="1882725"/>
            <a:ext cx="3380333" cy="3122861"/>
          </a:xfrm>
          <a:prstGeom prst="roundRect">
            <a:avLst>
              <a:gd name="adj" fmla="val 3152"/>
            </a:avLst>
          </a:prstGeom>
          <a:solidFill>
            <a:srgbClr val="FCFCFA"/>
          </a:solidFill>
          <a:ln w="6350">
            <a:solidFill>
              <a:srgbClr val="D6DCE4"/>
            </a:solidFill>
            <a:prstDash val="solid"/>
          </a:ln>
        </p:spPr>
      </p:sp>
      <p:pic>
        <p:nvPicPr>
          <p:cNvPr id="15" name="Image 2" descr="Link">    </p:cNvPr>
          <p:cNvPicPr>
            <a:picLocks noChangeAspect="1"/>
          </p:cNvPicPr>
          <p:nvPr/>
        </p:nvPicPr>
        <p:blipFill>
          <a:blip r:embed="rId3"/>
          <a:srcRect l="0" r="0" t="0" b="0"/>
          <a:stretch/>
        </p:blipFill>
        <p:spPr>
          <a:xfrm>
            <a:off x="8252867" y="2139900"/>
            <a:ext cx="304800" cy="304800"/>
          </a:xfrm>
          <a:prstGeom prst="rect">
            <a:avLst/>
          </a:prstGeom>
        </p:spPr>
      </p:pic>
      <p:sp>
        <p:nvSpPr>
          <p:cNvPr id="16" name="Text 11"/>
          <p:cNvSpPr/>
          <p:nvPr/>
        </p:nvSpPr>
        <p:spPr>
          <a:xfrm>
            <a:off x="8252867" y="2571700"/>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External agent</a:t>
            </a:r>
            <a:endParaRPr lang="en-US" sz="2000" dirty="0"/>
          </a:p>
        </p:txBody>
      </p:sp>
      <p:sp>
        <p:nvSpPr>
          <p:cNvPr id="17" name="Text 12"/>
          <p:cNvSpPr/>
          <p:nvPr/>
        </p:nvSpPr>
        <p:spPr>
          <a:xfrm>
            <a:off x="8252867" y="3003500"/>
            <a:ext cx="295196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Runs anywhere outside Foundry and is linked in for observability and evaluation.</a:t>
            </a:r>
            <a:endParaRPr lang="en-US" sz="1300" dirty="0"/>
          </a:p>
        </p:txBody>
      </p:sp>
      <p:sp>
        <p:nvSpPr>
          <p:cNvPr id="18" name="Text 13"/>
          <p:cNvSpPr/>
          <p:nvPr/>
        </p:nvSpPr>
        <p:spPr>
          <a:xfrm>
            <a:off x="8338211" y="3823891"/>
            <a:ext cx="2858999" cy="71879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Emits OpenTelemetry GenAI spans</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Linked by its OTel agent id</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Evaluated over its traces</a:t>
            </a:r>
            <a:endParaRPr lang="en-US" sz="1300" dirty="0"/>
          </a:p>
        </p:txBody>
      </p:sp>
      <p:sp>
        <p:nvSpPr>
          <p:cNvPr id="19"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02 · LIFECYCLE</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The evaluation process, end to end</a:t>
            </a:r>
            <a:endParaRPr lang="en-US" sz="3200" dirty="0"/>
          </a:p>
        </p:txBody>
      </p:sp>
      <p:sp>
        <p:nvSpPr>
          <p:cNvPr id="4" name="Shape 2"/>
          <p:cNvSpPr/>
          <p:nvPr/>
        </p:nvSpPr>
        <p:spPr>
          <a:xfrm>
            <a:off x="815975" y="1882725"/>
            <a:ext cx="1700510" cy="2297162"/>
          </a:xfrm>
          <a:prstGeom prst="roundRect">
            <a:avLst>
              <a:gd name="adj" fmla="val 5788"/>
            </a:avLst>
          </a:prstGeom>
          <a:solidFill>
            <a:srgbClr val="FCFCFA"/>
          </a:solidFill>
          <a:ln w="6350">
            <a:solidFill>
              <a:srgbClr val="D6DCE4"/>
            </a:solidFill>
            <a:prstDash val="solid"/>
          </a:ln>
        </p:spPr>
      </p:sp>
      <p:sp>
        <p:nvSpPr>
          <p:cNvPr id="5" name="Text 3"/>
          <p:cNvSpPr/>
          <p:nvPr/>
        </p:nvSpPr>
        <p:spPr>
          <a:xfrm>
            <a:off x="996950" y="2063700"/>
            <a:ext cx="138936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8C8"/>
                </a:solidFill>
                <a:latin typeface="JetBrains Mono" pitchFamily="49" charset="0"/>
                <a:ea typeface="JetBrains Mono" pitchFamily="49" charset="-122"/>
                <a:cs typeface="JetBrains Mono" pitchFamily="49" charset="-120"/>
              </a:rPr>
              <a:t>1</a:t>
            </a:r>
            <a:endParaRPr lang="en-US" sz="1400" dirty="0"/>
          </a:p>
        </p:txBody>
      </p:sp>
      <p:sp>
        <p:nvSpPr>
          <p:cNvPr id="6" name="Text 4"/>
          <p:cNvSpPr/>
          <p:nvPr/>
        </p:nvSpPr>
        <p:spPr>
          <a:xfrm>
            <a:off x="996950" y="2388791"/>
            <a:ext cx="1389360" cy="49272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Pick the agent</a:t>
            </a:r>
            <a:endParaRPr lang="en-US" sz="1600" dirty="0"/>
          </a:p>
        </p:txBody>
      </p:sp>
      <p:sp>
        <p:nvSpPr>
          <p:cNvPr id="7" name="Text 5"/>
          <p:cNvSpPr/>
          <p:nvPr/>
        </p:nvSpPr>
        <p:spPr>
          <a:xfrm>
            <a:off x="996950" y="2932311"/>
            <a:ext cx="1389360"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Prompt or hosted agent by name + version, or an external agent’s traces.</a:t>
            </a:r>
            <a:endParaRPr lang="en-US" sz="1200" dirty="0"/>
          </a:p>
        </p:txBody>
      </p:sp>
      <p:pic>
        <p:nvPicPr>
          <p:cNvPr id="8" name="Image 0" descr="arrow-right">    </p:cNvPr>
          <p:cNvPicPr>
            <a:picLocks noChangeAspect="1"/>
          </p:cNvPicPr>
          <p:nvPr/>
        </p:nvPicPr>
        <p:blipFill>
          <a:blip r:embed="rId1"/>
          <a:srcRect l="0" r="0" t="0" b="0"/>
          <a:stretch/>
        </p:blipFill>
        <p:spPr>
          <a:xfrm>
            <a:off x="2621260" y="2955082"/>
            <a:ext cx="304800" cy="152400"/>
          </a:xfrm>
          <a:prstGeom prst="rect">
            <a:avLst/>
          </a:prstGeom>
        </p:spPr>
      </p:pic>
      <p:sp>
        <p:nvSpPr>
          <p:cNvPr id="9" name="Shape 6"/>
          <p:cNvSpPr/>
          <p:nvPr/>
        </p:nvSpPr>
        <p:spPr>
          <a:xfrm>
            <a:off x="3030835" y="1882725"/>
            <a:ext cx="1700560" cy="2297162"/>
          </a:xfrm>
          <a:prstGeom prst="roundRect">
            <a:avLst>
              <a:gd name="adj" fmla="val 5788"/>
            </a:avLst>
          </a:prstGeom>
          <a:solidFill>
            <a:srgbClr val="FCFCFA"/>
          </a:solidFill>
          <a:ln w="6350">
            <a:solidFill>
              <a:srgbClr val="D6DCE4"/>
            </a:solidFill>
            <a:prstDash val="solid"/>
          </a:ln>
        </p:spPr>
      </p:sp>
      <p:sp>
        <p:nvSpPr>
          <p:cNvPr id="10" name="Text 7"/>
          <p:cNvSpPr/>
          <p:nvPr/>
        </p:nvSpPr>
        <p:spPr>
          <a:xfrm>
            <a:off x="3211810" y="2063700"/>
            <a:ext cx="13894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8C8"/>
                </a:solidFill>
                <a:latin typeface="JetBrains Mono" pitchFamily="49" charset="0"/>
                <a:ea typeface="JetBrains Mono" pitchFamily="49" charset="-122"/>
                <a:cs typeface="JetBrains Mono" pitchFamily="49" charset="-120"/>
              </a:rPr>
              <a:t>2</a:t>
            </a:r>
            <a:endParaRPr lang="en-US" sz="1400" dirty="0"/>
          </a:p>
        </p:txBody>
      </p:sp>
      <p:sp>
        <p:nvSpPr>
          <p:cNvPr id="11" name="Text 8"/>
          <p:cNvSpPr/>
          <p:nvPr/>
        </p:nvSpPr>
        <p:spPr>
          <a:xfrm>
            <a:off x="3211810" y="2388791"/>
            <a:ext cx="1389410" cy="25906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Prepare data</a:t>
            </a:r>
            <a:endParaRPr lang="en-US" sz="1600" dirty="0"/>
          </a:p>
        </p:txBody>
      </p:sp>
      <p:sp>
        <p:nvSpPr>
          <p:cNvPr id="12" name="Text 9"/>
          <p:cNvSpPr/>
          <p:nvPr/>
        </p:nvSpPr>
        <p:spPr>
          <a:xfrm>
            <a:off x="3211810" y="2698651"/>
            <a:ext cx="1389410"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Upload JSONL, generate a synthetic set, or turn traces into a dataset.</a:t>
            </a:r>
            <a:endParaRPr lang="en-US" sz="1200" dirty="0"/>
          </a:p>
        </p:txBody>
      </p:sp>
      <p:pic>
        <p:nvPicPr>
          <p:cNvPr id="13" name="Image 1" descr="arrow-right">    </p:cNvPr>
          <p:cNvPicPr>
            <a:picLocks noChangeAspect="1"/>
          </p:cNvPicPr>
          <p:nvPr/>
        </p:nvPicPr>
        <p:blipFill>
          <a:blip r:embed="rId2"/>
          <a:srcRect l="0" r="0" t="0" b="0"/>
          <a:stretch/>
        </p:blipFill>
        <p:spPr>
          <a:xfrm>
            <a:off x="4836170" y="2955082"/>
            <a:ext cx="304800" cy="152400"/>
          </a:xfrm>
          <a:prstGeom prst="rect">
            <a:avLst/>
          </a:prstGeom>
        </p:spPr>
      </p:pic>
      <p:sp>
        <p:nvSpPr>
          <p:cNvPr id="14" name="Shape 10"/>
          <p:cNvSpPr/>
          <p:nvPr/>
        </p:nvSpPr>
        <p:spPr>
          <a:xfrm>
            <a:off x="5245745" y="1882725"/>
            <a:ext cx="1700510" cy="2297162"/>
          </a:xfrm>
          <a:prstGeom prst="roundRect">
            <a:avLst>
              <a:gd name="adj" fmla="val 5788"/>
            </a:avLst>
          </a:prstGeom>
          <a:solidFill>
            <a:srgbClr val="FCFCFA"/>
          </a:solidFill>
          <a:ln w="6350">
            <a:solidFill>
              <a:srgbClr val="D6DCE4"/>
            </a:solidFill>
            <a:prstDash val="solid"/>
          </a:ln>
        </p:spPr>
      </p:sp>
      <p:sp>
        <p:nvSpPr>
          <p:cNvPr id="15" name="Text 11"/>
          <p:cNvSpPr/>
          <p:nvPr/>
        </p:nvSpPr>
        <p:spPr>
          <a:xfrm>
            <a:off x="5426720" y="2063700"/>
            <a:ext cx="138936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8C8"/>
                </a:solidFill>
                <a:latin typeface="JetBrains Mono" pitchFamily="49" charset="0"/>
                <a:ea typeface="JetBrains Mono" pitchFamily="49" charset="-122"/>
                <a:cs typeface="JetBrains Mono" pitchFamily="49" charset="-120"/>
              </a:rPr>
              <a:t>3</a:t>
            </a:r>
            <a:endParaRPr lang="en-US" sz="1400" dirty="0"/>
          </a:p>
        </p:txBody>
      </p:sp>
      <p:sp>
        <p:nvSpPr>
          <p:cNvPr id="16" name="Text 12"/>
          <p:cNvSpPr/>
          <p:nvPr/>
        </p:nvSpPr>
        <p:spPr>
          <a:xfrm>
            <a:off x="5426720" y="2388791"/>
            <a:ext cx="1389360" cy="49272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Choose evaluators</a:t>
            </a:r>
            <a:endParaRPr lang="en-US" sz="1600" dirty="0"/>
          </a:p>
        </p:txBody>
      </p:sp>
      <p:sp>
        <p:nvSpPr>
          <p:cNvPr id="17" name="Text 13"/>
          <p:cNvSpPr/>
          <p:nvPr/>
        </p:nvSpPr>
        <p:spPr>
          <a:xfrm>
            <a:off x="5426720" y="2932311"/>
            <a:ext cx="13893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 rubric as the primary measure, plus built-in, safety and custom ones.</a:t>
            </a:r>
            <a:endParaRPr lang="en-US" sz="1200" dirty="0"/>
          </a:p>
        </p:txBody>
      </p:sp>
      <p:pic>
        <p:nvPicPr>
          <p:cNvPr id="18" name="Image 2" descr="arrow-right">    </p:cNvPr>
          <p:cNvPicPr>
            <a:picLocks noChangeAspect="1"/>
          </p:cNvPicPr>
          <p:nvPr/>
        </p:nvPicPr>
        <p:blipFill>
          <a:blip r:embed="rId3"/>
          <a:srcRect l="0" r="0" t="0" b="0"/>
          <a:stretch/>
        </p:blipFill>
        <p:spPr>
          <a:xfrm>
            <a:off x="7051030" y="2955082"/>
            <a:ext cx="304800" cy="152400"/>
          </a:xfrm>
          <a:prstGeom prst="rect">
            <a:avLst/>
          </a:prstGeom>
        </p:spPr>
      </p:pic>
      <p:sp>
        <p:nvSpPr>
          <p:cNvPr id="19" name="Shape 14"/>
          <p:cNvSpPr/>
          <p:nvPr/>
        </p:nvSpPr>
        <p:spPr>
          <a:xfrm>
            <a:off x="7460605" y="1882725"/>
            <a:ext cx="1700560" cy="2297162"/>
          </a:xfrm>
          <a:prstGeom prst="roundRect">
            <a:avLst>
              <a:gd name="adj" fmla="val 5788"/>
            </a:avLst>
          </a:prstGeom>
          <a:solidFill>
            <a:srgbClr val="FCFCFA"/>
          </a:solidFill>
          <a:ln w="6350">
            <a:solidFill>
              <a:srgbClr val="D6DCE4"/>
            </a:solidFill>
            <a:prstDash val="solid"/>
          </a:ln>
        </p:spPr>
      </p:sp>
      <p:sp>
        <p:nvSpPr>
          <p:cNvPr id="20" name="Text 15"/>
          <p:cNvSpPr/>
          <p:nvPr/>
        </p:nvSpPr>
        <p:spPr>
          <a:xfrm>
            <a:off x="7641580" y="2063700"/>
            <a:ext cx="13894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8C8"/>
                </a:solidFill>
                <a:latin typeface="JetBrains Mono" pitchFamily="49" charset="0"/>
                <a:ea typeface="JetBrains Mono" pitchFamily="49" charset="-122"/>
                <a:cs typeface="JetBrains Mono" pitchFamily="49" charset="-120"/>
              </a:rPr>
              <a:t>4</a:t>
            </a:r>
            <a:endParaRPr lang="en-US" sz="1400" dirty="0"/>
          </a:p>
        </p:txBody>
      </p:sp>
      <p:sp>
        <p:nvSpPr>
          <p:cNvPr id="21" name="Text 16"/>
          <p:cNvSpPr/>
          <p:nvPr/>
        </p:nvSpPr>
        <p:spPr>
          <a:xfrm>
            <a:off x="7641580" y="2388791"/>
            <a:ext cx="1389410" cy="25906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Run</a:t>
            </a:r>
            <a:endParaRPr lang="en-US" sz="1600" dirty="0"/>
          </a:p>
        </p:txBody>
      </p:sp>
      <p:sp>
        <p:nvSpPr>
          <p:cNvPr id="22" name="Text 17"/>
          <p:cNvSpPr/>
          <p:nvPr/>
        </p:nvSpPr>
        <p:spPr>
          <a:xfrm>
            <a:off x="7641580" y="2698651"/>
            <a:ext cx="1389410"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An eval defines schema and criteria; each run executes it on one dataset.</a:t>
            </a:r>
            <a:endParaRPr lang="en-US" sz="1200" dirty="0"/>
          </a:p>
        </p:txBody>
      </p:sp>
      <p:pic>
        <p:nvPicPr>
          <p:cNvPr id="23" name="Image 3" descr="arrow-right">    </p:cNvPr>
          <p:cNvPicPr>
            <a:picLocks noChangeAspect="1"/>
          </p:cNvPicPr>
          <p:nvPr/>
        </p:nvPicPr>
        <p:blipFill>
          <a:blip r:embed="rId4"/>
          <a:srcRect l="0" r="0" t="0" b="0"/>
          <a:stretch/>
        </p:blipFill>
        <p:spPr>
          <a:xfrm>
            <a:off x="9265940" y="2955082"/>
            <a:ext cx="304800" cy="152400"/>
          </a:xfrm>
          <a:prstGeom prst="rect">
            <a:avLst/>
          </a:prstGeom>
        </p:spPr>
      </p:pic>
      <p:sp>
        <p:nvSpPr>
          <p:cNvPr id="24" name="Shape 18"/>
          <p:cNvSpPr/>
          <p:nvPr/>
        </p:nvSpPr>
        <p:spPr>
          <a:xfrm>
            <a:off x="9675515" y="1882725"/>
            <a:ext cx="1700510" cy="2297162"/>
          </a:xfrm>
          <a:prstGeom prst="roundRect">
            <a:avLst>
              <a:gd name="adj" fmla="val 5788"/>
            </a:avLst>
          </a:prstGeom>
          <a:solidFill>
            <a:srgbClr val="FCFCFA"/>
          </a:solidFill>
          <a:ln w="6350">
            <a:solidFill>
              <a:srgbClr val="D6DCE4"/>
            </a:solidFill>
            <a:prstDash val="solid"/>
          </a:ln>
        </p:spPr>
      </p:sp>
      <p:sp>
        <p:nvSpPr>
          <p:cNvPr id="25" name="Text 19"/>
          <p:cNvSpPr/>
          <p:nvPr/>
        </p:nvSpPr>
        <p:spPr>
          <a:xfrm>
            <a:off x="9856490" y="2063700"/>
            <a:ext cx="138936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8C8"/>
                </a:solidFill>
                <a:latin typeface="JetBrains Mono" pitchFamily="49" charset="0"/>
                <a:ea typeface="JetBrains Mono" pitchFamily="49" charset="-122"/>
                <a:cs typeface="JetBrains Mono" pitchFamily="49" charset="-120"/>
              </a:rPr>
              <a:t>5</a:t>
            </a:r>
            <a:endParaRPr lang="en-US" sz="1400" dirty="0"/>
          </a:p>
        </p:txBody>
      </p:sp>
      <p:sp>
        <p:nvSpPr>
          <p:cNvPr id="26" name="Text 20"/>
          <p:cNvSpPr/>
          <p:nvPr/>
        </p:nvSpPr>
        <p:spPr>
          <a:xfrm>
            <a:off x="9856490" y="2388791"/>
            <a:ext cx="1389360" cy="49272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Analyze &amp; iterate</a:t>
            </a:r>
            <a:endParaRPr lang="en-US" sz="1600" dirty="0"/>
          </a:p>
        </p:txBody>
      </p:sp>
      <p:sp>
        <p:nvSpPr>
          <p:cNvPr id="27" name="Text 21"/>
          <p:cNvSpPr/>
          <p:nvPr/>
        </p:nvSpPr>
        <p:spPr>
          <a:xfrm>
            <a:off x="9856490" y="2932311"/>
            <a:ext cx="13893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Compare runs, cluster failures, gate CI/CD, fix and re-run.</a:t>
            </a:r>
            <a:endParaRPr lang="en-US" sz="1200" dirty="0"/>
          </a:p>
        </p:txBody>
      </p:sp>
      <p:sp>
        <p:nvSpPr>
          <p:cNvPr id="28" name="Shape 22"/>
          <p:cNvSpPr/>
          <p:nvPr/>
        </p:nvSpPr>
        <p:spPr>
          <a:xfrm>
            <a:off x="812800" y="4487863"/>
            <a:ext cx="10566400" cy="904180"/>
          </a:xfrm>
          <a:prstGeom prst="roundRect">
            <a:avLst>
              <a:gd name="adj" fmla="val 11237"/>
            </a:avLst>
          </a:prstGeom>
          <a:solidFill>
            <a:srgbClr val="E9EDF2"/>
          </a:solidFill>
          <a:ln/>
        </p:spPr>
      </p:sp>
      <p:pic>
        <p:nvPicPr>
          <p:cNvPr id="29" name="Image 4" descr="Activity">    </p:cNvPr>
          <p:cNvPicPr>
            <a:picLocks noChangeAspect="1"/>
          </p:cNvPicPr>
          <p:nvPr/>
        </p:nvPicPr>
        <p:blipFill>
          <a:blip r:embed="rId5"/>
          <a:srcRect l="0" r="0" t="-182" b="-182"/>
          <a:stretch/>
        </p:blipFill>
        <p:spPr>
          <a:xfrm>
            <a:off x="1066800" y="4787553"/>
            <a:ext cx="259407" cy="304800"/>
          </a:xfrm>
          <a:prstGeom prst="rect">
            <a:avLst/>
          </a:prstGeom>
        </p:spPr>
      </p:pic>
      <p:sp>
        <p:nvSpPr>
          <p:cNvPr id="30" name="Text 23"/>
          <p:cNvSpPr/>
          <p:nvPr/>
        </p:nvSpPr>
        <p:spPr>
          <a:xfrm>
            <a:off x="1504007" y="4691063"/>
            <a:ext cx="990982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Continuous evaluation</a:t>
            </a:r>
            <a:r>
              <a:rPr lang="en-US" sz="1400" dirty="0">
                <a:solidFill>
                  <a:srgbClr val="14213D"/>
                </a:solidFill>
                <a:latin typeface="IBM Plex Sans" pitchFamily="34" charset="0"/>
                <a:ea typeface="IBM Plex Sans" pitchFamily="34" charset="-122"/>
                <a:cs typeface="IBM Plex Sans" pitchFamily="34" charset="-120"/>
              </a:rPr>
              <a:t> closes the loop in production: it samples live traffic, scores it in near real time and writes the results next to the traces.</a:t>
            </a:r>
            <a:endParaRPr lang="en-US" sz="1400" dirty="0"/>
          </a:p>
        </p:txBody>
      </p:sp>
      <p:sp>
        <p:nvSpPr>
          <p:cNvPr id="31"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D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02 · MNG EVALUATION FRAMEWORK</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Our framework at a glance</a:t>
            </a:r>
            <a:endParaRPr lang="en-US" sz="3200" dirty="0"/>
          </a:p>
        </p:txBody>
      </p:sp>
      <p:sp>
        <p:nvSpPr>
          <p:cNvPr id="4" name="Shape 2"/>
          <p:cNvSpPr/>
          <p:nvPr/>
        </p:nvSpPr>
        <p:spPr>
          <a:xfrm>
            <a:off x="815975" y="1882725"/>
            <a:ext cx="1741140" cy="2129631"/>
          </a:xfrm>
          <a:prstGeom prst="roundRect">
            <a:avLst>
              <a:gd name="adj" fmla="val 7112"/>
            </a:avLst>
          </a:prstGeom>
          <a:solidFill>
            <a:srgbClr val="FCFCFA"/>
          </a:solidFill>
          <a:ln w="6350">
            <a:solidFill>
              <a:srgbClr val="D6DCE4"/>
            </a:solidFill>
            <a:prstDash val="solid"/>
          </a:ln>
        </p:spPr>
      </p:sp>
      <p:sp>
        <p:nvSpPr>
          <p:cNvPr id="5" name="Text 3"/>
          <p:cNvSpPr/>
          <p:nvPr/>
        </p:nvSpPr>
        <p:spPr>
          <a:xfrm>
            <a:off x="1483320" y="2089100"/>
            <a:ext cx="406400" cy="406400"/>
          </a:xfrm>
          <a:prstGeom prst="roundRect">
            <a:avLst>
              <a:gd name="adj" fmla="val 50000"/>
            </a:avLst>
          </a:prstGeom>
          <a:solidFill>
            <a:srgbClr val="14213D"/>
          </a:solidFill>
          <a:ln/>
        </p:spPr>
        <p:txBody>
          <a:bodyPr wrap="square" lIns="0" tIns="0" rIns="0" bIns="0" rtlCol="0" anchor="ctr">
            <a:normAutofit/>
          </a:bodyPr>
          <a:lstStyle/>
          <a:p>
            <a:pPr algn="ctr" indent="0" marL="0">
              <a:lnSpc>
                <a:spcPts val="1960"/>
              </a:lnSpc>
              <a:buNone/>
            </a:pPr>
            <a:r>
              <a:rPr lang="en-US" sz="1400" b="1" dirty="0">
                <a:solidFill>
                  <a:srgbClr val="F6F7F4"/>
                </a:solidFill>
                <a:latin typeface="IBM Plex Sans" pitchFamily="34" charset="0"/>
                <a:ea typeface="IBM Plex Sans" pitchFamily="34" charset="-122"/>
                <a:cs typeface="IBM Plex Sans" pitchFamily="34" charset="-120"/>
              </a:rPr>
              <a:t>1</a:t>
            </a:r>
            <a:endParaRPr lang="en-US" sz="1400" dirty="0"/>
          </a:p>
        </p:txBody>
      </p:sp>
      <p:sp>
        <p:nvSpPr>
          <p:cNvPr id="6" name="Text 4"/>
          <p:cNvSpPr/>
          <p:nvPr/>
        </p:nvSpPr>
        <p:spPr>
          <a:xfrm>
            <a:off x="1065014" y="2597100"/>
            <a:ext cx="1243013" cy="259060"/>
          </a:xfrm>
          <a:prstGeom prst="rect">
            <a:avLst/>
          </a:prstGeom>
          <a:noFill/>
          <a:ln/>
        </p:spPr>
        <p:txBody>
          <a:bodyPr wrap="square" lIns="0" tIns="0" rIns="0" bIns="0" rtlCol="0" anchor="t">
            <a:normAutofit/>
          </a:bodyPr>
          <a:lstStyle/>
          <a:p>
            <a:pPr algn="ctr"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Test inputs</a:t>
            </a:r>
            <a:endParaRPr lang="en-US" sz="1600" dirty="0"/>
          </a:p>
        </p:txBody>
      </p:sp>
      <p:sp>
        <p:nvSpPr>
          <p:cNvPr id="7" name="Text 5"/>
          <p:cNvSpPr/>
          <p:nvPr/>
        </p:nvSpPr>
        <p:spPr>
          <a:xfrm>
            <a:off x="946150" y="2932361"/>
            <a:ext cx="1480790" cy="87868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Question, expected answer, category, optional structured checks</a:t>
            </a:r>
            <a:endParaRPr lang="en-US" sz="1200" dirty="0"/>
          </a:p>
        </p:txBody>
      </p:sp>
      <p:pic>
        <p:nvPicPr>
          <p:cNvPr id="8" name="Image 0" descr="arrow-right">    </p:cNvPr>
          <p:cNvPicPr>
            <a:picLocks noChangeAspect="1"/>
          </p:cNvPicPr>
          <p:nvPr/>
        </p:nvPicPr>
        <p:blipFill>
          <a:blip r:embed="rId1"/>
          <a:srcRect l="0" r="0" t="0" b="0"/>
          <a:stretch/>
        </p:blipFill>
        <p:spPr>
          <a:xfrm>
            <a:off x="2661890" y="2884041"/>
            <a:ext cx="254000" cy="127000"/>
          </a:xfrm>
          <a:prstGeom prst="rect">
            <a:avLst/>
          </a:prstGeom>
        </p:spPr>
      </p:pic>
      <p:sp>
        <p:nvSpPr>
          <p:cNvPr id="9" name="Shape 6"/>
          <p:cNvSpPr/>
          <p:nvPr/>
        </p:nvSpPr>
        <p:spPr>
          <a:xfrm>
            <a:off x="3020665" y="1882725"/>
            <a:ext cx="1741190" cy="2129631"/>
          </a:xfrm>
          <a:prstGeom prst="roundRect">
            <a:avLst>
              <a:gd name="adj" fmla="val 7112"/>
            </a:avLst>
          </a:prstGeom>
          <a:solidFill>
            <a:srgbClr val="FCFCFA"/>
          </a:solidFill>
          <a:ln w="6350">
            <a:solidFill>
              <a:srgbClr val="D6DCE4"/>
            </a:solidFill>
            <a:prstDash val="solid"/>
          </a:ln>
        </p:spPr>
      </p:sp>
      <p:sp>
        <p:nvSpPr>
          <p:cNvPr id="10" name="Text 7"/>
          <p:cNvSpPr/>
          <p:nvPr/>
        </p:nvSpPr>
        <p:spPr>
          <a:xfrm>
            <a:off x="3688060" y="2089100"/>
            <a:ext cx="406400" cy="406400"/>
          </a:xfrm>
          <a:prstGeom prst="roundRect">
            <a:avLst>
              <a:gd name="adj" fmla="val 50000"/>
            </a:avLst>
          </a:prstGeom>
          <a:solidFill>
            <a:srgbClr val="14213D"/>
          </a:solidFill>
          <a:ln/>
        </p:spPr>
        <p:txBody>
          <a:bodyPr wrap="square" lIns="0" tIns="0" rIns="0" bIns="0" rtlCol="0" anchor="ctr">
            <a:normAutofit/>
          </a:bodyPr>
          <a:lstStyle/>
          <a:p>
            <a:pPr algn="ctr" indent="0" marL="0">
              <a:lnSpc>
                <a:spcPts val="1960"/>
              </a:lnSpc>
              <a:buNone/>
            </a:pPr>
            <a:r>
              <a:rPr lang="en-US" sz="1400" b="1" dirty="0">
                <a:solidFill>
                  <a:srgbClr val="F6F7F4"/>
                </a:solidFill>
                <a:latin typeface="IBM Plex Sans" pitchFamily="34" charset="0"/>
                <a:ea typeface="IBM Plex Sans" pitchFamily="34" charset="-122"/>
                <a:cs typeface="IBM Plex Sans" pitchFamily="34" charset="-120"/>
              </a:rPr>
              <a:t>2</a:t>
            </a:r>
            <a:endParaRPr lang="en-US" sz="1400" dirty="0"/>
          </a:p>
        </p:txBody>
      </p:sp>
      <p:sp>
        <p:nvSpPr>
          <p:cNvPr id="11" name="Text 8"/>
          <p:cNvSpPr/>
          <p:nvPr/>
        </p:nvSpPr>
        <p:spPr>
          <a:xfrm>
            <a:off x="3150840" y="2597100"/>
            <a:ext cx="1480840" cy="492720"/>
          </a:xfrm>
          <a:prstGeom prst="rect">
            <a:avLst/>
          </a:prstGeom>
          <a:noFill/>
          <a:ln/>
        </p:spPr>
        <p:txBody>
          <a:bodyPr wrap="square" lIns="0" tIns="0" rIns="0" bIns="0" rtlCol="0" anchor="t">
            <a:normAutofit/>
          </a:bodyPr>
          <a:lstStyle/>
          <a:p>
            <a:pPr algn="ctr"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Retrieved evidence</a:t>
            </a:r>
            <a:endParaRPr lang="en-US" sz="1600" dirty="0"/>
          </a:p>
        </p:txBody>
      </p:sp>
      <p:sp>
        <p:nvSpPr>
          <p:cNvPr id="12" name="Text 9"/>
          <p:cNvSpPr/>
          <p:nvPr/>
        </p:nvSpPr>
        <p:spPr>
          <a:xfrm>
            <a:off x="3150840" y="3166021"/>
            <a:ext cx="1480840" cy="6653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Guideline chunks, metadata, plans, dates and codes</a:t>
            </a:r>
            <a:endParaRPr lang="en-US" sz="1200" dirty="0"/>
          </a:p>
        </p:txBody>
      </p:sp>
      <p:pic>
        <p:nvPicPr>
          <p:cNvPr id="13" name="Image 1" descr="arrow-right">    </p:cNvPr>
          <p:cNvPicPr>
            <a:picLocks noChangeAspect="1"/>
          </p:cNvPicPr>
          <p:nvPr/>
        </p:nvPicPr>
        <p:blipFill>
          <a:blip r:embed="rId2"/>
          <a:srcRect l="0" r="0" t="0" b="0"/>
          <a:stretch/>
        </p:blipFill>
        <p:spPr>
          <a:xfrm>
            <a:off x="4866630" y="2884041"/>
            <a:ext cx="254000" cy="127000"/>
          </a:xfrm>
          <a:prstGeom prst="rect">
            <a:avLst/>
          </a:prstGeom>
        </p:spPr>
      </p:pic>
      <p:sp>
        <p:nvSpPr>
          <p:cNvPr id="14" name="Shape 10"/>
          <p:cNvSpPr/>
          <p:nvPr/>
        </p:nvSpPr>
        <p:spPr>
          <a:xfrm>
            <a:off x="5225405" y="1882725"/>
            <a:ext cx="1741140" cy="2129631"/>
          </a:xfrm>
          <a:prstGeom prst="roundRect">
            <a:avLst>
              <a:gd name="adj" fmla="val 7112"/>
            </a:avLst>
          </a:prstGeom>
          <a:solidFill>
            <a:srgbClr val="FCFCFA"/>
          </a:solidFill>
          <a:ln w="6350">
            <a:solidFill>
              <a:srgbClr val="D6DCE4"/>
            </a:solidFill>
            <a:prstDash val="solid"/>
          </a:ln>
        </p:spPr>
      </p:sp>
      <p:sp>
        <p:nvSpPr>
          <p:cNvPr id="15" name="Text 11"/>
          <p:cNvSpPr/>
          <p:nvPr/>
        </p:nvSpPr>
        <p:spPr>
          <a:xfrm>
            <a:off x="5892750" y="2089100"/>
            <a:ext cx="406400" cy="406400"/>
          </a:xfrm>
          <a:prstGeom prst="roundRect">
            <a:avLst>
              <a:gd name="adj" fmla="val 50000"/>
            </a:avLst>
          </a:prstGeom>
          <a:solidFill>
            <a:srgbClr val="14213D"/>
          </a:solidFill>
          <a:ln/>
        </p:spPr>
        <p:txBody>
          <a:bodyPr wrap="square" lIns="0" tIns="0" rIns="0" bIns="0" rtlCol="0" anchor="ctr">
            <a:normAutofit/>
          </a:bodyPr>
          <a:lstStyle/>
          <a:p>
            <a:pPr algn="ctr" indent="0" marL="0">
              <a:lnSpc>
                <a:spcPts val="1960"/>
              </a:lnSpc>
              <a:buNone/>
            </a:pPr>
            <a:r>
              <a:rPr lang="en-US" sz="1400" b="1" dirty="0">
                <a:solidFill>
                  <a:srgbClr val="F6F7F4"/>
                </a:solidFill>
                <a:latin typeface="IBM Plex Sans" pitchFamily="34" charset="0"/>
                <a:ea typeface="IBM Plex Sans" pitchFamily="34" charset="-122"/>
                <a:cs typeface="IBM Plex Sans" pitchFamily="34" charset="-120"/>
              </a:rPr>
              <a:t>3</a:t>
            </a:r>
            <a:endParaRPr lang="en-US" sz="1400" dirty="0"/>
          </a:p>
        </p:txBody>
      </p:sp>
      <p:sp>
        <p:nvSpPr>
          <p:cNvPr id="16" name="Text 12"/>
          <p:cNvSpPr/>
          <p:nvPr/>
        </p:nvSpPr>
        <p:spPr>
          <a:xfrm>
            <a:off x="5355580" y="2597100"/>
            <a:ext cx="1480790" cy="492720"/>
          </a:xfrm>
          <a:prstGeom prst="rect">
            <a:avLst/>
          </a:prstGeom>
          <a:noFill/>
          <a:ln/>
        </p:spPr>
        <p:txBody>
          <a:bodyPr wrap="square" lIns="0" tIns="0" rIns="0" bIns="0" rtlCol="0" anchor="t">
            <a:normAutofit/>
          </a:bodyPr>
          <a:lstStyle/>
          <a:p>
            <a:pPr algn="ctr"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Generated answer</a:t>
            </a:r>
            <a:endParaRPr lang="en-US" sz="1600" dirty="0"/>
          </a:p>
        </p:txBody>
      </p:sp>
      <p:sp>
        <p:nvSpPr>
          <p:cNvPr id="17" name="Text 13"/>
          <p:cNvSpPr/>
          <p:nvPr/>
        </p:nvSpPr>
        <p:spPr>
          <a:xfrm>
            <a:off x="5355580" y="3166021"/>
            <a:ext cx="1480790" cy="6653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Answer, citations, structured policy details</a:t>
            </a:r>
            <a:endParaRPr lang="en-US" sz="1200" dirty="0"/>
          </a:p>
        </p:txBody>
      </p:sp>
      <p:pic>
        <p:nvPicPr>
          <p:cNvPr id="18" name="Image 2" descr="arrow-right">    </p:cNvPr>
          <p:cNvPicPr>
            <a:picLocks noChangeAspect="1"/>
          </p:cNvPicPr>
          <p:nvPr/>
        </p:nvPicPr>
        <p:blipFill>
          <a:blip r:embed="rId3"/>
          <a:srcRect l="0" r="0" t="0" b="0"/>
          <a:stretch/>
        </p:blipFill>
        <p:spPr>
          <a:xfrm>
            <a:off x="7071320" y="2884041"/>
            <a:ext cx="254000" cy="127000"/>
          </a:xfrm>
          <a:prstGeom prst="rect">
            <a:avLst/>
          </a:prstGeom>
        </p:spPr>
      </p:pic>
      <p:sp>
        <p:nvSpPr>
          <p:cNvPr id="19" name="Shape 14"/>
          <p:cNvSpPr/>
          <p:nvPr/>
        </p:nvSpPr>
        <p:spPr>
          <a:xfrm>
            <a:off x="7430095" y="1882725"/>
            <a:ext cx="1741190" cy="2129631"/>
          </a:xfrm>
          <a:prstGeom prst="roundRect">
            <a:avLst>
              <a:gd name="adj" fmla="val 7112"/>
            </a:avLst>
          </a:prstGeom>
          <a:solidFill>
            <a:srgbClr val="FCFCFA"/>
          </a:solidFill>
          <a:ln w="6350">
            <a:solidFill>
              <a:srgbClr val="D6DCE4"/>
            </a:solidFill>
            <a:prstDash val="solid"/>
          </a:ln>
        </p:spPr>
      </p:sp>
      <p:sp>
        <p:nvSpPr>
          <p:cNvPr id="20" name="Text 15"/>
          <p:cNvSpPr/>
          <p:nvPr/>
        </p:nvSpPr>
        <p:spPr>
          <a:xfrm>
            <a:off x="8097490" y="2089100"/>
            <a:ext cx="406400" cy="406400"/>
          </a:xfrm>
          <a:prstGeom prst="roundRect">
            <a:avLst>
              <a:gd name="adj" fmla="val 50000"/>
            </a:avLst>
          </a:prstGeom>
          <a:solidFill>
            <a:srgbClr val="2458C8"/>
          </a:solidFill>
          <a:ln/>
        </p:spPr>
        <p:txBody>
          <a:bodyPr wrap="square" lIns="0" tIns="0" rIns="0" bIns="0" rtlCol="0" anchor="ctr">
            <a:normAutofit/>
          </a:bodyPr>
          <a:lstStyle/>
          <a:p>
            <a:pPr algn="ctr" indent="0" marL="0">
              <a:lnSpc>
                <a:spcPts val="1960"/>
              </a:lnSpc>
              <a:buNone/>
            </a:pPr>
            <a:r>
              <a:rPr lang="en-US" sz="1400" b="1" dirty="0">
                <a:solidFill>
                  <a:srgbClr val="F6F7F4"/>
                </a:solidFill>
                <a:latin typeface="IBM Plex Sans" pitchFamily="34" charset="0"/>
                <a:ea typeface="IBM Plex Sans" pitchFamily="34" charset="-122"/>
                <a:cs typeface="IBM Plex Sans" pitchFamily="34" charset="-120"/>
              </a:rPr>
              <a:t>4</a:t>
            </a:r>
            <a:endParaRPr lang="en-US" sz="1400" dirty="0"/>
          </a:p>
        </p:txBody>
      </p:sp>
      <p:sp>
        <p:nvSpPr>
          <p:cNvPr id="21" name="Text 16"/>
          <p:cNvSpPr/>
          <p:nvPr/>
        </p:nvSpPr>
        <p:spPr>
          <a:xfrm>
            <a:off x="7560270" y="2597100"/>
            <a:ext cx="1480840" cy="492720"/>
          </a:xfrm>
          <a:prstGeom prst="rect">
            <a:avLst/>
          </a:prstGeom>
          <a:noFill/>
          <a:ln/>
        </p:spPr>
        <p:txBody>
          <a:bodyPr wrap="square" lIns="0" tIns="0" rIns="0" bIns="0" rtlCol="0" anchor="t">
            <a:normAutofit/>
          </a:bodyPr>
          <a:lstStyle/>
          <a:p>
            <a:pPr algn="ctr"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Parallel evaluation</a:t>
            </a:r>
            <a:endParaRPr lang="en-US" sz="1600" dirty="0"/>
          </a:p>
        </p:txBody>
      </p:sp>
      <p:sp>
        <p:nvSpPr>
          <p:cNvPr id="22" name="Text 17"/>
          <p:cNvSpPr/>
          <p:nvPr/>
        </p:nvSpPr>
        <p:spPr>
          <a:xfrm>
            <a:off x="7560270" y="3166021"/>
            <a:ext cx="1480840" cy="6653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Agent, RAG, rubric, safety and MNG-specific metrics</a:t>
            </a:r>
            <a:endParaRPr lang="en-US" sz="1200" dirty="0"/>
          </a:p>
        </p:txBody>
      </p:sp>
      <p:pic>
        <p:nvPicPr>
          <p:cNvPr id="23" name="Image 3" descr="arrow-right">    </p:cNvPr>
          <p:cNvPicPr>
            <a:picLocks noChangeAspect="1"/>
          </p:cNvPicPr>
          <p:nvPr/>
        </p:nvPicPr>
        <p:blipFill>
          <a:blip r:embed="rId4"/>
          <a:srcRect l="0" r="0" t="0" b="0"/>
          <a:stretch/>
        </p:blipFill>
        <p:spPr>
          <a:xfrm>
            <a:off x="9276060" y="2884041"/>
            <a:ext cx="254000" cy="127000"/>
          </a:xfrm>
          <a:prstGeom prst="rect">
            <a:avLst/>
          </a:prstGeom>
        </p:spPr>
      </p:pic>
      <p:sp>
        <p:nvSpPr>
          <p:cNvPr id="24" name="Shape 18"/>
          <p:cNvSpPr/>
          <p:nvPr/>
        </p:nvSpPr>
        <p:spPr>
          <a:xfrm>
            <a:off x="9634835" y="1882725"/>
            <a:ext cx="1741190" cy="2129631"/>
          </a:xfrm>
          <a:prstGeom prst="roundRect">
            <a:avLst>
              <a:gd name="adj" fmla="val 7112"/>
            </a:avLst>
          </a:prstGeom>
          <a:solidFill>
            <a:srgbClr val="FCFCFA"/>
          </a:solidFill>
          <a:ln w="6350">
            <a:solidFill>
              <a:srgbClr val="D6DCE4"/>
            </a:solidFill>
            <a:prstDash val="solid"/>
          </a:ln>
        </p:spPr>
      </p:sp>
      <p:sp>
        <p:nvSpPr>
          <p:cNvPr id="25" name="Text 19"/>
          <p:cNvSpPr/>
          <p:nvPr/>
        </p:nvSpPr>
        <p:spPr>
          <a:xfrm>
            <a:off x="10302230" y="2089100"/>
            <a:ext cx="406400" cy="406400"/>
          </a:xfrm>
          <a:prstGeom prst="roundRect">
            <a:avLst>
              <a:gd name="adj" fmla="val 50000"/>
            </a:avLst>
          </a:prstGeom>
          <a:solidFill>
            <a:srgbClr val="14213D"/>
          </a:solidFill>
          <a:ln/>
        </p:spPr>
        <p:txBody>
          <a:bodyPr wrap="square" lIns="0" tIns="0" rIns="0" bIns="0" rtlCol="0" anchor="ctr">
            <a:normAutofit/>
          </a:bodyPr>
          <a:lstStyle/>
          <a:p>
            <a:pPr algn="ctr" indent="0" marL="0">
              <a:lnSpc>
                <a:spcPts val="1960"/>
              </a:lnSpc>
              <a:buNone/>
            </a:pPr>
            <a:r>
              <a:rPr lang="en-US" sz="1400" b="1" dirty="0">
                <a:solidFill>
                  <a:srgbClr val="F6F7F4"/>
                </a:solidFill>
                <a:latin typeface="IBM Plex Sans" pitchFamily="34" charset="0"/>
                <a:ea typeface="IBM Plex Sans" pitchFamily="34" charset="-122"/>
                <a:cs typeface="IBM Plex Sans" pitchFamily="34" charset="-120"/>
              </a:rPr>
              <a:t>5</a:t>
            </a:r>
            <a:endParaRPr lang="en-US" sz="1400" dirty="0"/>
          </a:p>
        </p:txBody>
      </p:sp>
      <p:sp>
        <p:nvSpPr>
          <p:cNvPr id="26" name="Text 20"/>
          <p:cNvSpPr/>
          <p:nvPr/>
        </p:nvSpPr>
        <p:spPr>
          <a:xfrm>
            <a:off x="9765010" y="2597100"/>
            <a:ext cx="1480840" cy="492720"/>
          </a:xfrm>
          <a:prstGeom prst="rect">
            <a:avLst/>
          </a:prstGeom>
          <a:noFill/>
          <a:ln/>
        </p:spPr>
        <p:txBody>
          <a:bodyPr wrap="square" lIns="0" tIns="0" rIns="0" bIns="0" rtlCol="0" anchor="t">
            <a:normAutofit/>
          </a:bodyPr>
          <a:lstStyle/>
          <a:p>
            <a:pPr algn="ctr" indent="0" marL="0">
              <a:lnSpc>
                <a:spcPts val="1840"/>
              </a:lnSpc>
              <a:buNone/>
            </a:pPr>
            <a:r>
              <a:rPr lang="en-US" sz="1600" b="1" dirty="0">
                <a:solidFill>
                  <a:srgbClr val="14213D"/>
                </a:solidFill>
                <a:latin typeface="IBM Plex Sans" pitchFamily="34" charset="0"/>
                <a:ea typeface="IBM Plex Sans" pitchFamily="34" charset="-122"/>
                <a:cs typeface="IBM Plex Sans" pitchFamily="34" charset="-120"/>
              </a:rPr>
              <a:t>Decision &amp; reports</a:t>
            </a:r>
            <a:endParaRPr lang="en-US" sz="1600" dirty="0"/>
          </a:p>
        </p:txBody>
      </p:sp>
      <p:sp>
        <p:nvSpPr>
          <p:cNvPr id="27" name="Text 21"/>
          <p:cNvSpPr/>
          <p:nvPr/>
        </p:nvSpPr>
        <p:spPr>
          <a:xfrm>
            <a:off x="9765010" y="3166021"/>
            <a:ext cx="1480840" cy="6653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Applicable hard gates, JSON output, four-sheet workbook</a:t>
            </a:r>
            <a:endParaRPr lang="en-US" sz="1200" dirty="0"/>
          </a:p>
        </p:txBody>
      </p:sp>
      <p:sp>
        <p:nvSpPr>
          <p:cNvPr id="28" name="Shape 22"/>
          <p:cNvSpPr/>
          <p:nvPr/>
        </p:nvSpPr>
        <p:spPr>
          <a:xfrm>
            <a:off x="812800" y="4320332"/>
            <a:ext cx="10566400" cy="711200"/>
          </a:xfrm>
          <a:prstGeom prst="roundRect">
            <a:avLst>
              <a:gd name="adj" fmla="val 14286"/>
            </a:avLst>
          </a:prstGeom>
          <a:solidFill>
            <a:srgbClr val="14213D"/>
          </a:solidFill>
          <a:ln/>
        </p:spPr>
      </p:sp>
      <p:pic>
        <p:nvPicPr>
          <p:cNvPr id="29" name="Image 4" descr="Lightbulb">    </p:cNvPr>
          <p:cNvPicPr>
            <a:picLocks noChangeAspect="1"/>
          </p:cNvPicPr>
          <p:nvPr/>
        </p:nvPicPr>
        <p:blipFill>
          <a:blip r:embed="rId5"/>
          <a:srcRect l="0" r="0" t="0" b="0"/>
          <a:stretch/>
        </p:blipFill>
        <p:spPr>
          <a:xfrm>
            <a:off x="1066800" y="4523532"/>
            <a:ext cx="304800" cy="304800"/>
          </a:xfrm>
          <a:prstGeom prst="rect">
            <a:avLst/>
          </a:prstGeom>
        </p:spPr>
      </p:pic>
      <p:sp>
        <p:nvSpPr>
          <p:cNvPr id="30" name="Text 23"/>
          <p:cNvSpPr/>
          <p:nvPr/>
        </p:nvSpPr>
        <p:spPr>
          <a:xfrm>
            <a:off x="1549400" y="4551462"/>
            <a:ext cx="9829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7F4"/>
                </a:solidFill>
                <a:latin typeface="IBM Plex Sans" pitchFamily="34" charset="0"/>
                <a:ea typeface="IBM Plex Sans" pitchFamily="34" charset="-122"/>
                <a:cs typeface="IBM Plex Sans" pitchFamily="34" charset="-120"/>
              </a:rPr>
              <a:t>Design principle:</a:t>
            </a:r>
            <a:r>
              <a:rPr lang="en-US" sz="1400" dirty="0">
                <a:solidFill>
                  <a:srgbClr val="F6F7F4"/>
                </a:solidFill>
                <a:latin typeface="IBM Plex Sans" pitchFamily="34" charset="0"/>
                <a:ea typeface="IBM Plex Sans" pitchFamily="34" charset="-122"/>
                <a:cs typeface="IBM Plex Sans" pitchFamily="34" charset="-120"/>
              </a:rPr>
              <a:t> keep every evaluator’s reason; aggregate only after applicability and thresholds are known.</a:t>
            </a:r>
            <a:endParaRPr lang="en-US" sz="1400" dirty="0"/>
          </a:p>
        </p:txBody>
      </p:sp>
      <p:sp>
        <p:nvSpPr>
          <p:cNvPr id="31"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03 · EVALUATION MODES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Three ways to feed an evaluation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2130673"/>
        </p:xfrm>
        <a:graphic>
          <a:graphicData uri="http://schemas.openxmlformats.org/drawingml/2006/table">
            <a:tbl>
              <a:tblPr/>
              <a:tblGrid>
                <a:gridCol w="2110740"/>
                <a:gridCol w="3166110"/>
                <a:gridCol w="2321814"/>
                <a:gridCol w="2955036"/>
              </a:tblGrid>
              <a:tr h="359321">
                <a:tc>
                  <a:txBody>
                    <a:bodyPr/>
                    <a:lstStyle/>
                    <a:p>
                      <a:pPr indent="0" marL="0">
                        <a:lnSpc>
                          <a:spcPts val="1820"/>
                        </a:lnSpc>
                        <a:buNone/>
                      </a:pPr>
                      <a:r>
                        <a:rPr lang="en-US" sz="1300" b="1" dirty="0">
                          <a:solidFill>
                            <a:srgbClr val="F6F7F4"/>
                          </a:solidFill>
                          <a:latin typeface="IBM Plex Sans" pitchFamily="34" charset="0"/>
                          <a:ea typeface="IBM Plex Sans" pitchFamily="34" charset="-122"/>
                          <a:cs typeface="IBM Plex Sans" pitchFamily="34" charset="-120"/>
                        </a:rPr>
                        <a:t>Mode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6F7F4"/>
                          </a:solidFill>
                          <a:latin typeface="IBM Plex Sans" pitchFamily="34" charset="0"/>
                          <a:ea typeface="IBM Plex Sans" pitchFamily="34" charset="-122"/>
                          <a:cs typeface="IBM Plex Sans" pitchFamily="34" charset="-120"/>
                        </a:rPr>
                        <a:t>What you provide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6F7F4"/>
                          </a:solidFill>
                          <a:latin typeface="IBM Plex Sans" pitchFamily="34" charset="0"/>
                          <a:ea typeface="IBM Plex Sans" pitchFamily="34" charset="-122"/>
                          <a:cs typeface="IBM Plex Sans" pitchFamily="34" charset="-120"/>
                        </a:rPr>
                        <a:t>Agent called?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6F7F4"/>
                          </a:solidFill>
                          <a:latin typeface="IBM Plex Sans" pitchFamily="34" charset="0"/>
                          <a:ea typeface="IBM Plex Sans" pitchFamily="34" charset="-122"/>
                          <a:cs typeface="IBM Plex Sans" pitchFamily="34" charset="-120"/>
                        </a:rPr>
                        <a:t>Typical use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59045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Uploaded data → agent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JSONL of queries (and ground truth) uploaded as a dataset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Yes — each query goes to the prompt or hosted agent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Pre-release testing and regression suites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59045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Existing data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ABDC1"/>
                      </a:solidFill>
                      <a:prstDash val="solid"/>
                      <a:round/>
                      <a:headEnd type="none" w="med" len="med"/>
                      <a:tailEnd type="none" w="med" len="med"/>
                    </a:lnB>
                    <a:solidFill>
                      <a:srgbClr val="E9EDF2"/>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JSONL that already holds query, response and context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ABDC1"/>
                      </a:solidFill>
                      <a:prstDash val="solid"/>
                      <a:round/>
                      <a:headEnd type="none" w="med" len="med"/>
                      <a:tailEnd type="none" w="med" len="med"/>
                    </a:lnB>
                    <a:solidFill>
                      <a:srgbClr val="E9EDF2"/>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No — rows are scored as they are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ABDC1"/>
                      </a:solidFill>
                      <a:prstDash val="solid"/>
                      <a:round/>
                      <a:headEnd type="none" w="med" len="med"/>
                      <a:tailEnd type="none" w="med" len="med"/>
                    </a:lnB>
                    <a:solidFill>
                      <a:srgbClr val="E9EDF2"/>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Outputs from other systems, offline batches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ABDC1"/>
                      </a:solidFill>
                      <a:prstDash val="solid"/>
                      <a:round/>
                      <a:headEnd type="none" w="med" len="med"/>
                      <a:tailEnd type="none" w="med" len="med"/>
                    </a:lnB>
                    <a:solidFill>
                      <a:srgbClr val="E9EDF2"/>
                    </a:solidFill>
                  </a:tcPr>
                </a:tc>
              </a:tr>
              <a:tr h="59045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Traces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Agent interactions in Application Insights (OTel spans)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No — real past interactions are scored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Production QA, external agents, continuous eval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MODE 1 · UPLOADED DATA</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Upload queries, let Foundry run the agent</a:t>
            </a:r>
            <a:endParaRPr lang="en-US" sz="3200" dirty="0"/>
          </a:p>
        </p:txBody>
      </p:sp>
      <p:sp>
        <p:nvSpPr>
          <p:cNvPr id="4" name="Text 2"/>
          <p:cNvSpPr/>
          <p:nvPr/>
        </p:nvSpPr>
        <p:spPr>
          <a:xfrm>
            <a:off x="898144" y="1879550"/>
            <a:ext cx="3935984" cy="2336701"/>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Dataset rows look like {"query": "…"}, plus ground truth when needed</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Foundry sends each query to the agent and keeps the full response, tool calls included</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Map fields with {{item.query}}, {{sample.output_text}} and {{sample.output_items}}</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Hosted agents on the invocations protocol take free-form JSON input instead of the message template</a:t>
            </a:r>
            <a:endParaRPr lang="en-US" sz="1300" dirty="0"/>
          </a:p>
        </p:txBody>
      </p:sp>
      <p:sp>
        <p:nvSpPr>
          <p:cNvPr id="5" name="Text 3"/>
          <p:cNvSpPr/>
          <p:nvPr/>
        </p:nvSpPr>
        <p:spPr>
          <a:xfrm>
            <a:off x="5029200" y="1879550"/>
            <a:ext cx="6350000" cy="3179564"/>
          </a:xfrm>
          <a:prstGeom prst="roundRect">
            <a:avLst>
              <a:gd name="adj" fmla="val 3195"/>
            </a:avLst>
          </a:prstGeom>
          <a:solidFill>
            <a:srgbClr val="14213D"/>
          </a:solidFill>
          <a:ln/>
        </p:spPr>
        <p:txBody>
          <a:bodyPr wrap="square" lIns="173442" tIns="173442" rIns="0" bIns="148042" rtlCol="0" anchor="t">
            <a:normAutofit/>
          </a:bodyPr>
          <a:lstStyle/>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dataset = project_client.datasets.upload_file(</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name="agent-test-queries", version="1",</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file_path="./test-queries.jsonl")</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run = client.evals.runs.create(</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eval_id=evaluation.id,</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data_source={</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"type": "azure_ai_target_completions",</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"source": {"type": "file_id", "id": dataset.id},</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"input_messages": {"type": "template", ...},</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"target": {"type": "azure_ai_agent",</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"name": AGENT_NAME, "version": "1"},</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a:t>
            </a:r>
            <a:endParaRPr lang="en-US" sz="12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MODE 2 · EXISTING DATA</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Score answers you already have</a:t>
            </a:r>
            <a:endParaRPr lang="en-US" sz="3200" dirty="0"/>
          </a:p>
        </p:txBody>
      </p:sp>
      <p:sp>
        <p:nvSpPr>
          <p:cNvPr id="4" name="Text 2"/>
          <p:cNvSpPr/>
          <p:nvPr/>
        </p:nvSpPr>
        <p:spPr>
          <a:xfrm>
            <a:off x="898144" y="1879550"/>
            <a:ext cx="3935984" cy="1874441"/>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Rows already hold the response, so no agent is called — cheaper and repeatable</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Good for outputs from other systems, offline batches or earlier runs</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Data source type "jsonl" that points at the uploaded file id</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Evaluators map straight to item fields; code evaluators read item.get("response")</a:t>
            </a:r>
            <a:endParaRPr lang="en-US" sz="1300" dirty="0"/>
          </a:p>
        </p:txBody>
      </p:sp>
      <p:sp>
        <p:nvSpPr>
          <p:cNvPr id="5" name="Text 3"/>
          <p:cNvSpPr/>
          <p:nvPr/>
        </p:nvSpPr>
        <p:spPr>
          <a:xfrm>
            <a:off x="5029200" y="1879550"/>
            <a:ext cx="6350000" cy="3392884"/>
          </a:xfrm>
          <a:prstGeom prst="roundRect">
            <a:avLst>
              <a:gd name="adj" fmla="val 2995"/>
            </a:avLst>
          </a:prstGeom>
          <a:solidFill>
            <a:srgbClr val="14213D"/>
          </a:solidFill>
          <a:ln/>
        </p:spPr>
        <p:txBody>
          <a:bodyPr wrap="square" lIns="173442" tIns="173442" rIns="0" bIns="148042" rtlCol="0" anchor="t">
            <a:normAutofit/>
          </a:bodyPr>
          <a:lstStyle/>
          <a:p>
            <a:pPr algn="l" indent="0" marL="0">
              <a:lnSpc>
                <a:spcPts val="1680"/>
              </a:lnSpc>
              <a:buNone/>
            </a:pPr>
            <a:r>
              <a:rPr lang="en-US" sz="1200" dirty="0">
                <a:solidFill>
                  <a:srgbClr val="8FA0B8"/>
                </a:solidFill>
                <a:latin typeface="JetBrains Mono" pitchFamily="49" charset="0"/>
                <a:ea typeface="JetBrains Mono" pitchFamily="49" charset="-122"/>
                <a:cs typeface="JetBrains Mono" pitchFamily="49" charset="-120"/>
              </a:rPr>
              <a:t># one row of existing data (JSONL)</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{"query": "Is an MRI covered?",</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"response": "Yes, with prior authorization…",</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"context": "Policy 4.2 …", "ground_truth": "…"}</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run = client.evals.runs.create(</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eval_id=evaluation.id,</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data_source={</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"type": "jsonl",</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"source": {"type": "file_id", "id": dataset.id}})</a:t>
            </a:r>
            <a:endParaRPr lang="en-US" sz="1200" dirty="0"/>
          </a:p>
          <a:p>
            <a:pPr algn="l" indent="0" marL="0">
              <a:lnSpc>
                <a:spcPts val="1680"/>
              </a:lnSpc>
              <a:buNone/>
            </a:pPr>
            <a:endParaRPr lang="en-US" sz="1200" dirty="0"/>
          </a:p>
          <a:p>
            <a:pPr algn="l" indent="0" marL="0">
              <a:lnSpc>
                <a:spcPts val="1680"/>
              </a:lnSpc>
              <a:buNone/>
            </a:pPr>
            <a:r>
              <a:rPr lang="en-US" sz="1200" dirty="0">
                <a:solidFill>
                  <a:srgbClr val="8FA0B8"/>
                </a:solidFill>
                <a:latin typeface="JetBrains Mono" pitchFamily="49" charset="0"/>
                <a:ea typeface="JetBrains Mono" pitchFamily="49" charset="-122"/>
                <a:cs typeface="JetBrains Mono" pitchFamily="49" charset="-120"/>
              </a:rPr>
              <a:t># testing criteria read the row directly</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"data_mapping": {"query": "{{item.query}}",</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"response": "{{item.response}}"}</a:t>
            </a:r>
            <a:endParaRPr lang="en-US" sz="12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MODE 3 · TRACES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Evaluate what the agent actually did</a:t>
            </a:r>
            <a:endParaRPr lang="en-US" sz="3200" dirty="0"/>
          </a:p>
        </p:txBody>
      </p:sp>
      <p:sp>
        <p:nvSpPr>
          <p:cNvPr id="4" name="Text 2"/>
          <p:cNvSpPr/>
          <p:nvPr/>
        </p:nvSpPr>
        <p:spPr>
          <a:xfrm>
            <a:off x="815975" y="2203996"/>
            <a:ext cx="2152650" cy="509240"/>
          </a:xfrm>
          <a:prstGeom prst="roundRect">
            <a:avLst>
              <a:gd name="adj" fmla="val 14340"/>
            </a:avLst>
          </a:prstGeom>
          <a:solidFill>
            <a:srgbClr val="FCFCFA"/>
          </a:solidFill>
          <a:ln w="6350">
            <a:solidFill>
              <a:srgbClr val="D6DCE4"/>
            </a:solidFill>
            <a:prstDash val="solid"/>
          </a:ln>
        </p:spPr>
        <p:txBody>
          <a:bodyPr wrap="square" lIns="134187" tIns="108787" rIns="78942" bIns="83387"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Prompt agent</a:t>
            </a:r>
            <a:endParaRPr lang="en-US" sz="1400" dirty="0"/>
          </a:p>
        </p:txBody>
      </p:sp>
      <p:sp>
        <p:nvSpPr>
          <p:cNvPr id="5" name="Text 3"/>
          <p:cNvSpPr/>
          <p:nvPr/>
        </p:nvSpPr>
        <p:spPr>
          <a:xfrm>
            <a:off x="815975" y="2821186"/>
            <a:ext cx="2152650" cy="509240"/>
          </a:xfrm>
          <a:prstGeom prst="roundRect">
            <a:avLst>
              <a:gd name="adj" fmla="val 14340"/>
            </a:avLst>
          </a:prstGeom>
          <a:solidFill>
            <a:srgbClr val="FCFCFA"/>
          </a:solidFill>
          <a:ln w="6350">
            <a:solidFill>
              <a:srgbClr val="D6DCE4"/>
            </a:solidFill>
            <a:prstDash val="solid"/>
          </a:ln>
        </p:spPr>
        <p:txBody>
          <a:bodyPr wrap="square" lIns="134187" tIns="108787" rIns="78942" bIns="83387"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Hosted agent</a:t>
            </a:r>
            <a:endParaRPr lang="en-US" sz="1400" dirty="0"/>
          </a:p>
        </p:txBody>
      </p:sp>
      <p:sp>
        <p:nvSpPr>
          <p:cNvPr id="6" name="Text 4"/>
          <p:cNvSpPr/>
          <p:nvPr/>
        </p:nvSpPr>
        <p:spPr>
          <a:xfrm>
            <a:off x="815975" y="3438376"/>
            <a:ext cx="2152650" cy="509240"/>
          </a:xfrm>
          <a:prstGeom prst="roundRect">
            <a:avLst>
              <a:gd name="adj" fmla="val 14340"/>
            </a:avLst>
          </a:prstGeom>
          <a:solidFill>
            <a:srgbClr val="FCFCFA"/>
          </a:solidFill>
          <a:ln w="6350">
            <a:solidFill>
              <a:srgbClr val="D6DCE4"/>
            </a:solidFill>
            <a:prstDash val="solid"/>
          </a:ln>
        </p:spPr>
        <p:txBody>
          <a:bodyPr wrap="square" lIns="134187" tIns="108787" rIns="78942" bIns="83387"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External agent</a:t>
            </a:r>
            <a:endParaRPr lang="en-US" sz="1400" dirty="0"/>
          </a:p>
        </p:txBody>
      </p:sp>
      <p:pic>
        <p:nvPicPr>
          <p:cNvPr id="7" name="Image 0" descr="arrow-right">    </p:cNvPr>
          <p:cNvPicPr>
            <a:picLocks noChangeAspect="1"/>
          </p:cNvPicPr>
          <p:nvPr/>
        </p:nvPicPr>
        <p:blipFill>
          <a:blip r:embed="rId1"/>
          <a:srcRect l="0" r="0" t="0" b="0"/>
          <a:stretch/>
        </p:blipFill>
        <p:spPr>
          <a:xfrm>
            <a:off x="3149600" y="2986931"/>
            <a:ext cx="355600" cy="177800"/>
          </a:xfrm>
          <a:prstGeom prst="rect">
            <a:avLst/>
          </a:prstGeom>
        </p:spPr>
      </p:pic>
      <p:sp>
        <p:nvSpPr>
          <p:cNvPr id="8" name="Shape 5"/>
          <p:cNvSpPr/>
          <p:nvPr/>
        </p:nvSpPr>
        <p:spPr>
          <a:xfrm>
            <a:off x="3683000" y="2390428"/>
            <a:ext cx="2540000" cy="1370806"/>
          </a:xfrm>
          <a:prstGeom prst="roundRect">
            <a:avLst>
              <a:gd name="adj" fmla="val 7412"/>
            </a:avLst>
          </a:prstGeom>
          <a:solidFill>
            <a:srgbClr val="14213D"/>
          </a:solidFill>
          <a:ln/>
        </p:spPr>
      </p:sp>
      <p:sp>
        <p:nvSpPr>
          <p:cNvPr id="9" name="Text 6"/>
          <p:cNvSpPr/>
          <p:nvPr/>
        </p:nvSpPr>
        <p:spPr>
          <a:xfrm>
            <a:off x="3886200" y="2593628"/>
            <a:ext cx="2197608"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F6F7F4"/>
                </a:solidFill>
                <a:latin typeface="IBM Plex Sans" pitchFamily="34" charset="0"/>
                <a:ea typeface="IBM Plex Sans" pitchFamily="34" charset="-122"/>
                <a:cs typeface="IBM Plex Sans" pitchFamily="34" charset="-120"/>
              </a:rPr>
              <a:t>Application Insights</a:t>
            </a:r>
            <a:endParaRPr lang="en-US" sz="1700" dirty="0"/>
          </a:p>
        </p:txBody>
      </p:sp>
      <p:sp>
        <p:nvSpPr>
          <p:cNvPr id="10" name="Text 7"/>
          <p:cNvSpPr/>
          <p:nvPr/>
        </p:nvSpPr>
        <p:spPr>
          <a:xfrm>
            <a:off x="3886200" y="2918073"/>
            <a:ext cx="219760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OpenTelemetry GenAI spans, matched per agent by gen_ai.agent.id</a:t>
            </a:r>
            <a:endParaRPr lang="en-US" sz="1200" dirty="0"/>
          </a:p>
        </p:txBody>
      </p:sp>
      <p:pic>
        <p:nvPicPr>
          <p:cNvPr id="11" name="Image 1" descr="arrow-right">    </p:cNvPr>
          <p:cNvPicPr>
            <a:picLocks noChangeAspect="1"/>
          </p:cNvPicPr>
          <p:nvPr/>
        </p:nvPicPr>
        <p:blipFill>
          <a:blip r:embed="rId2"/>
          <a:srcRect l="0" r="0" t="0" b="0"/>
          <a:stretch/>
        </p:blipFill>
        <p:spPr>
          <a:xfrm>
            <a:off x="6400800" y="2986931"/>
            <a:ext cx="355600" cy="177800"/>
          </a:xfrm>
          <a:prstGeom prst="rect">
            <a:avLst/>
          </a:prstGeom>
        </p:spPr>
      </p:pic>
      <p:sp>
        <p:nvSpPr>
          <p:cNvPr id="12" name="Shape 8"/>
          <p:cNvSpPr/>
          <p:nvPr/>
        </p:nvSpPr>
        <p:spPr>
          <a:xfrm>
            <a:off x="6937375" y="1857325"/>
            <a:ext cx="4438650" cy="740370"/>
          </a:xfrm>
          <a:prstGeom prst="roundRect">
            <a:avLst>
              <a:gd name="adj" fmla="val 9863"/>
            </a:avLst>
          </a:prstGeom>
          <a:solidFill>
            <a:srgbClr val="FCFCFA"/>
          </a:solidFill>
          <a:ln w="6350">
            <a:solidFill>
              <a:srgbClr val="D6DCE4"/>
            </a:solidFill>
            <a:prstDash val="solid"/>
          </a:ln>
        </p:spPr>
      </p:sp>
      <p:sp>
        <p:nvSpPr>
          <p:cNvPr id="13" name="Text 9"/>
          <p:cNvSpPr/>
          <p:nvPr/>
        </p:nvSpPr>
        <p:spPr>
          <a:xfrm>
            <a:off x="7092950" y="1987500"/>
            <a:ext cx="425132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Trace evaluation</a:t>
            </a:r>
            <a:endParaRPr lang="en-US" sz="1500" dirty="0"/>
          </a:p>
        </p:txBody>
      </p:sp>
      <p:sp>
        <p:nvSpPr>
          <p:cNvPr id="14" name="Text 10"/>
          <p:cNvSpPr/>
          <p:nvPr/>
        </p:nvSpPr>
        <p:spPr>
          <a:xfrm>
            <a:off x="7092950" y="2254200"/>
            <a:ext cx="4251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Score interactions that already happened, in batch</a:t>
            </a:r>
            <a:endParaRPr lang="en-US" sz="1200" dirty="0"/>
          </a:p>
        </p:txBody>
      </p:sp>
      <p:sp>
        <p:nvSpPr>
          <p:cNvPr id="15" name="Shape 11"/>
          <p:cNvSpPr/>
          <p:nvPr/>
        </p:nvSpPr>
        <p:spPr>
          <a:xfrm>
            <a:off x="6937375" y="2705646"/>
            <a:ext cx="4438650" cy="740370"/>
          </a:xfrm>
          <a:prstGeom prst="roundRect">
            <a:avLst>
              <a:gd name="adj" fmla="val 9863"/>
            </a:avLst>
          </a:prstGeom>
          <a:solidFill>
            <a:srgbClr val="FCFCFA"/>
          </a:solidFill>
          <a:ln w="6350">
            <a:solidFill>
              <a:srgbClr val="D6DCE4"/>
            </a:solidFill>
            <a:prstDash val="solid"/>
          </a:ln>
        </p:spPr>
      </p:sp>
      <p:sp>
        <p:nvSpPr>
          <p:cNvPr id="16" name="Text 12"/>
          <p:cNvSpPr/>
          <p:nvPr/>
        </p:nvSpPr>
        <p:spPr>
          <a:xfrm>
            <a:off x="7092950" y="2835821"/>
            <a:ext cx="425132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Continuous evaluation</a:t>
            </a:r>
            <a:endParaRPr lang="en-US" sz="1500" dirty="0"/>
          </a:p>
        </p:txBody>
      </p:sp>
      <p:sp>
        <p:nvSpPr>
          <p:cNvPr id="17" name="Text 13"/>
          <p:cNvSpPr/>
          <p:nvPr/>
        </p:nvSpPr>
        <p:spPr>
          <a:xfrm>
            <a:off x="7092950" y="3102521"/>
            <a:ext cx="4251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Sample live traffic; scores land next to the traces</a:t>
            </a:r>
            <a:endParaRPr lang="en-US" sz="1200" dirty="0"/>
          </a:p>
        </p:txBody>
      </p:sp>
      <p:sp>
        <p:nvSpPr>
          <p:cNvPr id="18" name="Shape 14"/>
          <p:cNvSpPr/>
          <p:nvPr/>
        </p:nvSpPr>
        <p:spPr>
          <a:xfrm>
            <a:off x="6937375" y="3553966"/>
            <a:ext cx="4438650" cy="740370"/>
          </a:xfrm>
          <a:prstGeom prst="roundRect">
            <a:avLst>
              <a:gd name="adj" fmla="val 9863"/>
            </a:avLst>
          </a:prstGeom>
          <a:solidFill>
            <a:srgbClr val="FCFCFA"/>
          </a:solidFill>
          <a:ln w="6350">
            <a:solidFill>
              <a:srgbClr val="D6DCE4"/>
            </a:solidFill>
            <a:prstDash val="solid"/>
          </a:ln>
        </p:spPr>
      </p:sp>
      <p:sp>
        <p:nvSpPr>
          <p:cNvPr id="19" name="Text 15"/>
          <p:cNvSpPr/>
          <p:nvPr/>
        </p:nvSpPr>
        <p:spPr>
          <a:xfrm>
            <a:off x="7092950" y="3684141"/>
            <a:ext cx="425132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Traces → dataset</a:t>
            </a:r>
            <a:endParaRPr lang="en-US" sz="1500" dirty="0"/>
          </a:p>
        </p:txBody>
      </p:sp>
      <p:sp>
        <p:nvSpPr>
          <p:cNvPr id="20" name="Text 16"/>
          <p:cNvSpPr/>
          <p:nvPr/>
        </p:nvSpPr>
        <p:spPr>
          <a:xfrm>
            <a:off x="7092950" y="3950841"/>
            <a:ext cx="4251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Curate real conversations into versioned eval sets</a:t>
            </a:r>
            <a:endParaRPr lang="en-US" sz="1200" dirty="0"/>
          </a:p>
        </p:txBody>
      </p:sp>
      <p:sp>
        <p:nvSpPr>
          <p:cNvPr id="21" name="Text 17"/>
          <p:cNvSpPr/>
          <p:nvPr/>
        </p:nvSpPr>
        <p:spPr>
          <a:xfrm>
            <a:off x="812800" y="4576911"/>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Needs: Application Insights connected to the project · Reader or Log Analytics Reader role to read traces · App Insights egress allowed on isolated networks.</a:t>
            </a:r>
            <a:endParaRPr lang="en-US" sz="1200" dirty="0"/>
          </a:p>
        </p:txBody>
      </p:sp>
      <p:sp>
        <p:nvSpPr>
          <p:cNvPr id="22"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D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04 · EXTERNAL AGENTS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Attaching agents that run outside Foundry</a:t>
            </a:r>
            <a:endParaRPr lang="en-US" sz="3200" dirty="0"/>
          </a:p>
        </p:txBody>
      </p:sp>
      <p:sp>
        <p:nvSpPr>
          <p:cNvPr id="4" name="Shape 2"/>
          <p:cNvSpPr/>
          <p:nvPr/>
        </p:nvSpPr>
        <p:spPr>
          <a:xfrm>
            <a:off x="815975" y="1882725"/>
            <a:ext cx="5869434" cy="2800251"/>
          </a:xfrm>
          <a:prstGeom prst="roundRect">
            <a:avLst>
              <a:gd name="adj" fmla="val 3515"/>
            </a:avLst>
          </a:prstGeom>
          <a:solidFill>
            <a:srgbClr val="FCFCFA"/>
          </a:solidFill>
          <a:ln w="6350">
            <a:solidFill>
              <a:srgbClr val="D6DCE4"/>
            </a:solidFill>
            <a:prstDash val="solid"/>
          </a:ln>
        </p:spPr>
      </p:sp>
      <p:sp>
        <p:nvSpPr>
          <p:cNvPr id="5" name="Text 3"/>
          <p:cNvSpPr/>
          <p:nvPr/>
        </p:nvSpPr>
        <p:spPr>
          <a:xfrm>
            <a:off x="1073150" y="2139900"/>
            <a:ext cx="55157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8C8"/>
                </a:solidFill>
                <a:latin typeface="IBM Plex Sans" pitchFamily="34" charset="0"/>
                <a:ea typeface="IBM Plex Sans" pitchFamily="34" charset="-122"/>
                <a:cs typeface="IBM Plex Sans" pitchFamily="34" charset="-120"/>
              </a:rPr>
              <a:t>OBSERVABILITY + EVALUATION</a:t>
            </a:r>
            <a:endParaRPr lang="en-US" sz="1200" dirty="0"/>
          </a:p>
        </p:txBody>
      </p:sp>
      <p:sp>
        <p:nvSpPr>
          <p:cNvPr id="6" name="Text 4"/>
          <p:cNvSpPr/>
          <p:nvPr/>
        </p:nvSpPr>
        <p:spPr>
          <a:xfrm>
            <a:off x="1073150" y="2480221"/>
            <a:ext cx="55157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Link external agent (preview)</a:t>
            </a:r>
            <a:endParaRPr lang="en-US" sz="2000" dirty="0"/>
          </a:p>
        </p:txBody>
      </p:sp>
      <p:sp>
        <p:nvSpPr>
          <p:cNvPr id="7" name="Text 5"/>
          <p:cNvSpPr/>
          <p:nvPr/>
        </p:nvSpPr>
        <p:spPr>
          <a:xfrm>
            <a:off x="1144191" y="2912021"/>
            <a:ext cx="5437076" cy="1181050"/>
          </a:xfrm>
          <a:prstGeom prst="rect">
            <a:avLst/>
          </a:prstGeom>
          <a:noFill/>
          <a:ln/>
        </p:spPr>
        <p:txBody>
          <a:bodyPr wrap="square" lIns="0" tIns="0" rIns="0" bIns="0" rtlCol="0" anchor="t">
            <a:normAutofit/>
          </a:bodyPr>
          <a:lstStyle/>
          <a:p>
            <a:pPr algn="l" marL="182959" indent="-182959">
              <a:lnSpc>
                <a:spcPts val="1820"/>
              </a:lnSpc>
              <a:buSzPct val="100000"/>
              <a:buFontTx/>
              <a:buAutoNum type="arabicPeriod" startAt="1"/>
            </a:pPr>
            <a:r>
              <a:rPr lang="en-US" sz="1300" dirty="0">
                <a:solidFill>
                  <a:srgbClr val="3E4A5C"/>
                </a:solidFill>
                <a:latin typeface="IBM Plex Sans" pitchFamily="34" charset="0"/>
                <a:ea typeface="IBM Plex Sans" pitchFamily="34" charset="-122"/>
                <a:cs typeface="IBM Plex Sans" pitchFamily="34" charset="-120"/>
              </a:rPr>
              <a:t>Instrument the agent with OpenTelemetry (GenAI conventions)</a:t>
            </a:r>
            <a:endParaRPr lang="en-US" sz="1300" dirty="0"/>
          </a:p>
          <a:p>
            <a:pPr algn="l" marL="182959" indent="-182959">
              <a:lnSpc>
                <a:spcPts val="1820"/>
              </a:lnSpc>
              <a:buSzPct val="100000"/>
              <a:buFontTx/>
              <a:buAutoNum type="arabicPeriod" startAt="1"/>
            </a:pPr>
            <a:r>
              <a:rPr lang="en-US" sz="1300" dirty="0">
                <a:solidFill>
                  <a:srgbClr val="3E4A5C"/>
                </a:solidFill>
                <a:latin typeface="IBM Plex Sans" pitchFamily="34" charset="0"/>
                <a:ea typeface="IBM Plex Sans" pitchFamily="34" charset="-122"/>
                <a:cs typeface="IBM Plex Sans" pitchFamily="34" charset="-120"/>
              </a:rPr>
              <a:t>Export spans with the project’s App Insights connection string</a:t>
            </a:r>
            <a:endParaRPr lang="en-US" sz="1300" dirty="0"/>
          </a:p>
          <a:p>
            <a:pPr algn="l" marL="182959" indent="-182959">
              <a:lnSpc>
                <a:spcPts val="1820"/>
              </a:lnSpc>
              <a:buSzPct val="100000"/>
              <a:buFontTx/>
              <a:buAutoNum type="arabicPeriod" startAt="1"/>
            </a:pPr>
            <a:r>
              <a:rPr lang="en-US" sz="1300" dirty="0">
                <a:solidFill>
                  <a:srgbClr val="3E4A5C"/>
                </a:solidFill>
                <a:latin typeface="IBM Plex Sans" pitchFamily="34" charset="0"/>
                <a:ea typeface="IBM Plex Sans" pitchFamily="34" charset="-122"/>
                <a:cs typeface="IBM Plex Sans" pitchFamily="34" charset="-120"/>
              </a:rPr>
              <a:t>In Foundry, choose Link external agent and set its OTel agent id</a:t>
            </a:r>
            <a:endParaRPr lang="en-US" sz="1300" dirty="0"/>
          </a:p>
          <a:p>
            <a:pPr algn="l" marL="182959" indent="-182959">
              <a:lnSpc>
                <a:spcPts val="1820"/>
              </a:lnSpc>
              <a:buSzPct val="100000"/>
              <a:buFontTx/>
              <a:buAutoNum type="arabicPeriod" startAt="1"/>
            </a:pPr>
            <a:r>
              <a:rPr lang="en-US" sz="1300" dirty="0">
                <a:solidFill>
                  <a:srgbClr val="3E4A5C"/>
                </a:solidFill>
                <a:latin typeface="IBM Plex Sans" pitchFamily="34" charset="0"/>
                <a:ea typeface="IBM Plex Sans" pitchFamily="34" charset="-122"/>
                <a:cs typeface="IBM Plex Sans" pitchFamily="34" charset="-120"/>
              </a:rPr>
              <a:t>Traces appear in 2–5 minutes, matched on gen_ai.agent.id</a:t>
            </a:r>
            <a:endParaRPr lang="en-US" sz="1300" dirty="0"/>
          </a:p>
          <a:p>
            <a:pPr algn="l" marL="182959" indent="-182959">
              <a:lnSpc>
                <a:spcPts val="1820"/>
              </a:lnSpc>
              <a:buSzPct val="100000"/>
              <a:buFontTx/>
              <a:buAutoNum type="arabicPeriod" startAt="1"/>
            </a:pPr>
            <a:r>
              <a:rPr lang="en-US" sz="1300" dirty="0">
                <a:solidFill>
                  <a:srgbClr val="3E4A5C"/>
                </a:solidFill>
                <a:latin typeface="IBM Plex Sans" pitchFamily="34" charset="0"/>
                <a:ea typeface="IBM Plex Sans" pitchFamily="34" charset="-122"/>
                <a:cs typeface="IBM Plex Sans" pitchFamily="34" charset="-120"/>
              </a:rPr>
              <a:t>Run trace or continuous evaluation over them</a:t>
            </a:r>
            <a:endParaRPr lang="en-US" sz="1300" dirty="0"/>
          </a:p>
        </p:txBody>
      </p:sp>
      <p:sp>
        <p:nvSpPr>
          <p:cNvPr id="8" name="Shape 6"/>
          <p:cNvSpPr/>
          <p:nvPr/>
        </p:nvSpPr>
        <p:spPr>
          <a:xfrm>
            <a:off x="6894959" y="1882725"/>
            <a:ext cx="4481066" cy="2800251"/>
          </a:xfrm>
          <a:prstGeom prst="roundRect">
            <a:avLst>
              <a:gd name="adj" fmla="val 3515"/>
            </a:avLst>
          </a:prstGeom>
          <a:solidFill>
            <a:srgbClr val="FCFCFA"/>
          </a:solidFill>
          <a:ln w="6350">
            <a:solidFill>
              <a:srgbClr val="D6DCE4"/>
            </a:solidFill>
            <a:prstDash val="solid"/>
          </a:ln>
        </p:spPr>
      </p:sp>
      <p:sp>
        <p:nvSpPr>
          <p:cNvPr id="9" name="Text 7"/>
          <p:cNvSpPr/>
          <p:nvPr/>
        </p:nvSpPr>
        <p:spPr>
          <a:xfrm>
            <a:off x="7152134" y="2139900"/>
            <a:ext cx="4085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611B"/>
                </a:solidFill>
                <a:latin typeface="IBM Plex Sans" pitchFamily="34" charset="0"/>
                <a:ea typeface="IBM Plex Sans" pitchFamily="34" charset="-122"/>
                <a:cs typeface="IBM Plex Sans" pitchFamily="34" charset="-120"/>
              </a:rPr>
              <a:t>GOVERNANCE + OBSERVABILITY</a:t>
            </a:r>
            <a:endParaRPr lang="en-US" sz="1200" dirty="0"/>
          </a:p>
        </p:txBody>
      </p:sp>
      <p:sp>
        <p:nvSpPr>
          <p:cNvPr id="10" name="Text 8"/>
          <p:cNvSpPr/>
          <p:nvPr/>
        </p:nvSpPr>
        <p:spPr>
          <a:xfrm>
            <a:off x="7152134" y="2480221"/>
            <a:ext cx="40857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Control Plane custom agent</a:t>
            </a:r>
            <a:endParaRPr lang="en-US" sz="2000" dirty="0"/>
          </a:p>
        </p:txBody>
      </p:sp>
      <p:sp>
        <p:nvSpPr>
          <p:cNvPr id="11" name="Text 9"/>
          <p:cNvSpPr/>
          <p:nvPr/>
        </p:nvSpPr>
        <p:spPr>
          <a:xfrm>
            <a:off x="7152134" y="2912021"/>
            <a:ext cx="4085717"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Foundry registers the agent behind an AI Gateway (API Management) and issues a new URL. Clients call that URL, so Foundry controls access and monitors traffic.</a:t>
            </a:r>
            <a:endParaRPr lang="en-US" sz="1300" dirty="0"/>
          </a:p>
        </p:txBody>
      </p:sp>
      <p:sp>
        <p:nvSpPr>
          <p:cNvPr id="12" name="Text 10"/>
          <p:cNvSpPr/>
          <p:nvPr/>
        </p:nvSpPr>
        <p:spPr>
          <a:xfrm>
            <a:off x="7152134" y="3963541"/>
            <a:ext cx="4085717"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Use it when</a:t>
            </a:r>
            <a:r>
              <a:rPr lang="en-US" sz="1300" dirty="0">
                <a:solidFill>
                  <a:srgbClr val="14213D"/>
                </a:solidFill>
                <a:latin typeface="IBM Plex Sans" pitchFamily="34" charset="0"/>
                <a:ea typeface="IBM Plex Sans" pitchFamily="34" charset="-122"/>
                <a:cs typeface="IBM Plex Sans" pitchFamily="34" charset="-120"/>
              </a:rPr>
              <a:t> inbound traffic must be governed, not only evaluated.</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05 · EVALUATORS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The evaluator toolbox</a:t>
            </a:r>
            <a:endParaRPr lang="en-US" sz="3200" dirty="0"/>
          </a:p>
        </p:txBody>
      </p:sp>
      <p:sp>
        <p:nvSpPr>
          <p:cNvPr id="4" name="Shape 2"/>
          <p:cNvSpPr/>
          <p:nvPr/>
        </p:nvSpPr>
        <p:spPr>
          <a:xfrm>
            <a:off x="815975" y="1857325"/>
            <a:ext cx="5187950" cy="1225500"/>
          </a:xfrm>
          <a:prstGeom prst="roundRect">
            <a:avLst>
              <a:gd name="adj" fmla="val 8031"/>
            </a:avLst>
          </a:prstGeom>
          <a:solidFill>
            <a:srgbClr val="FCFCFA"/>
          </a:solidFill>
          <a:ln w="6350">
            <a:solidFill>
              <a:srgbClr val="D6DCE4"/>
            </a:solidFill>
            <a:prstDash val="solid"/>
          </a:ln>
        </p:spPr>
      </p:sp>
      <p:sp>
        <p:nvSpPr>
          <p:cNvPr id="5" name="Text 3"/>
          <p:cNvSpPr/>
          <p:nvPr/>
        </p:nvSpPr>
        <p:spPr>
          <a:xfrm>
            <a:off x="1047750" y="2063700"/>
            <a:ext cx="48661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Agent evaluators</a:t>
            </a:r>
            <a:endParaRPr lang="en-US" sz="1800" dirty="0"/>
          </a:p>
        </p:txBody>
      </p:sp>
      <p:sp>
        <p:nvSpPr>
          <p:cNvPr id="6" name="Text 4"/>
          <p:cNvSpPr/>
          <p:nvPr/>
        </p:nvSpPr>
        <p:spPr>
          <a:xfrm>
            <a:off x="1047750" y="2414191"/>
            <a:ext cx="486613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How well the agent resolves intent, sticks to the task and calls the right tools with the right arguments.</a:t>
            </a:r>
            <a:endParaRPr lang="en-US" sz="1300" dirty="0"/>
          </a:p>
        </p:txBody>
      </p:sp>
      <p:sp>
        <p:nvSpPr>
          <p:cNvPr id="7" name="Shape 5"/>
          <p:cNvSpPr/>
          <p:nvPr/>
        </p:nvSpPr>
        <p:spPr>
          <a:xfrm>
            <a:off x="6188075" y="1857325"/>
            <a:ext cx="5187950" cy="1225500"/>
          </a:xfrm>
          <a:prstGeom prst="roundRect">
            <a:avLst>
              <a:gd name="adj" fmla="val 8031"/>
            </a:avLst>
          </a:prstGeom>
          <a:solidFill>
            <a:srgbClr val="FCFCFA"/>
          </a:solidFill>
          <a:ln w="6350">
            <a:solidFill>
              <a:srgbClr val="D6DCE4"/>
            </a:solidFill>
            <a:prstDash val="solid"/>
          </a:ln>
        </p:spPr>
      </p:sp>
      <p:sp>
        <p:nvSpPr>
          <p:cNvPr id="8" name="Text 6"/>
          <p:cNvSpPr/>
          <p:nvPr/>
        </p:nvSpPr>
        <p:spPr>
          <a:xfrm>
            <a:off x="6419850" y="2063700"/>
            <a:ext cx="48661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Quality &amp; similarity</a:t>
            </a:r>
            <a:endParaRPr lang="en-US" sz="1800" dirty="0"/>
          </a:p>
        </p:txBody>
      </p:sp>
      <p:sp>
        <p:nvSpPr>
          <p:cNvPr id="9" name="Text 7"/>
          <p:cNvSpPr/>
          <p:nvPr/>
        </p:nvSpPr>
        <p:spPr>
          <a:xfrm>
            <a:off x="6419850" y="2414191"/>
            <a:ext cx="486613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Coherence, fluency, relevance and groundedness by LLM judge; F1, BLEU and ROUGE against ground truth.</a:t>
            </a:r>
            <a:endParaRPr lang="en-US" sz="1300" dirty="0"/>
          </a:p>
        </p:txBody>
      </p:sp>
      <p:sp>
        <p:nvSpPr>
          <p:cNvPr id="10" name="Shape 8"/>
          <p:cNvSpPr/>
          <p:nvPr/>
        </p:nvSpPr>
        <p:spPr>
          <a:xfrm>
            <a:off x="815975" y="3266976"/>
            <a:ext cx="5187950" cy="1225500"/>
          </a:xfrm>
          <a:prstGeom prst="roundRect">
            <a:avLst>
              <a:gd name="adj" fmla="val 8031"/>
            </a:avLst>
          </a:prstGeom>
          <a:solidFill>
            <a:srgbClr val="FCFCFA"/>
          </a:solidFill>
          <a:ln w="6350">
            <a:solidFill>
              <a:srgbClr val="D6DCE4"/>
            </a:solidFill>
            <a:prstDash val="solid"/>
          </a:ln>
        </p:spPr>
      </p:sp>
      <p:sp>
        <p:nvSpPr>
          <p:cNvPr id="11" name="Text 9"/>
          <p:cNvSpPr/>
          <p:nvPr/>
        </p:nvSpPr>
        <p:spPr>
          <a:xfrm>
            <a:off x="1047750" y="3473351"/>
            <a:ext cx="48661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Safety</a:t>
            </a:r>
            <a:endParaRPr lang="en-US" sz="1800" dirty="0"/>
          </a:p>
        </p:txBody>
      </p:sp>
      <p:sp>
        <p:nvSpPr>
          <p:cNvPr id="12" name="Text 10"/>
          <p:cNvSpPr/>
          <p:nvPr/>
        </p:nvSpPr>
        <p:spPr>
          <a:xfrm>
            <a:off x="1047750" y="3823841"/>
            <a:ext cx="486613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Content and security risks in the output — violence, hate and unfairness, self-harm, protected material.</a:t>
            </a:r>
            <a:endParaRPr lang="en-US" sz="1300" dirty="0"/>
          </a:p>
        </p:txBody>
      </p:sp>
      <p:sp>
        <p:nvSpPr>
          <p:cNvPr id="13" name="Shape 11"/>
          <p:cNvSpPr/>
          <p:nvPr/>
        </p:nvSpPr>
        <p:spPr>
          <a:xfrm>
            <a:off x="6184900" y="3263801"/>
            <a:ext cx="5194300" cy="1231850"/>
          </a:xfrm>
          <a:prstGeom prst="roundRect">
            <a:avLst>
              <a:gd name="adj" fmla="val 8248"/>
            </a:avLst>
          </a:prstGeom>
          <a:solidFill>
            <a:srgbClr val="14213D"/>
          </a:solidFill>
          <a:ln/>
        </p:spPr>
      </p:sp>
      <p:sp>
        <p:nvSpPr>
          <p:cNvPr id="14" name="Text 12"/>
          <p:cNvSpPr/>
          <p:nvPr/>
        </p:nvSpPr>
        <p:spPr>
          <a:xfrm>
            <a:off x="6413500" y="3467001"/>
            <a:ext cx="487921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7F4"/>
                </a:solidFill>
                <a:latin typeface="IBM Plex Sans" pitchFamily="34" charset="0"/>
                <a:ea typeface="IBM Plex Sans" pitchFamily="34" charset="-122"/>
                <a:cs typeface="IBM Plex Sans" pitchFamily="34" charset="-120"/>
              </a:rPr>
              <a:t>Custom &amp; rubric</a:t>
            </a:r>
            <a:endParaRPr lang="en-US" sz="1800" dirty="0"/>
          </a:p>
        </p:txBody>
      </p:sp>
      <p:sp>
        <p:nvSpPr>
          <p:cNvPr id="15" name="Text 13"/>
          <p:cNvSpPr/>
          <p:nvPr/>
        </p:nvSpPr>
        <p:spPr>
          <a:xfrm>
            <a:off x="6413500" y="3817491"/>
            <a:ext cx="4879213"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Your own code or prompt judges, and weighted multi-dimension rubrics — the recommended primary measure.</a:t>
            </a:r>
            <a:endParaRPr lang="en-US" sz="1300" dirty="0"/>
          </a:p>
        </p:txBody>
      </p:sp>
      <p:sp>
        <p:nvSpPr>
          <p:cNvPr id="16" name="Text 14"/>
          <p:cNvSpPr/>
          <p:nvPr/>
        </p:nvSpPr>
        <p:spPr>
          <a:xfrm>
            <a:off x="812800" y="4775051"/>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Each goes into testing_criteria as type </a:t>
            </a:r>
            <a:r>
              <a:rPr lang="en-US" sz="1300" b="1" dirty="0">
                <a:solidFill>
                  <a:srgbClr val="3E4A5C"/>
                </a:solidFill>
                <a:latin typeface="IBM Plex Sans" pitchFamily="34" charset="0"/>
                <a:ea typeface="IBM Plex Sans" pitchFamily="34" charset="-122"/>
                <a:cs typeface="IBM Plex Sans" pitchFamily="34" charset="-120"/>
              </a:rPr>
              <a:t>azure_ai_evaluator</a:t>
            </a:r>
            <a:r>
              <a:rPr lang="en-US" sz="1300" dirty="0">
                <a:solidFill>
                  <a:srgbClr val="3E4A5C"/>
                </a:solidFill>
                <a:latin typeface="IBM Plex Sans" pitchFamily="34" charset="0"/>
                <a:ea typeface="IBM Plex Sans" pitchFamily="34" charset="-122"/>
                <a:cs typeface="IBM Plex Sans" pitchFamily="34" charset="-120"/>
              </a:rPr>
              <a:t>, with evaluator_name set to </a:t>
            </a:r>
            <a:r>
              <a:rPr lang="en-US" sz="1300" b="1" dirty="0">
                <a:solidFill>
                  <a:srgbClr val="3E4A5C"/>
                </a:solidFill>
                <a:latin typeface="IBM Plex Sans" pitchFamily="34" charset="0"/>
                <a:ea typeface="IBM Plex Sans" pitchFamily="34" charset="-122"/>
                <a:cs typeface="IBM Plex Sans" pitchFamily="34" charset="-120"/>
              </a:rPr>
              <a:t>builtin.&lt;name&gt;</a:t>
            </a:r>
            <a:r>
              <a:rPr lang="en-US" sz="1300" dirty="0">
                <a:solidFill>
                  <a:srgbClr val="3E4A5C"/>
                </a:solidFill>
                <a:latin typeface="IBM Plex Sans" pitchFamily="34" charset="0"/>
                <a:ea typeface="IBM Plex Sans" pitchFamily="34" charset="-122"/>
                <a:cs typeface="IBM Plex Sans" pitchFamily="34" charset="-120"/>
              </a:rPr>
              <a:t> (e.g. builtin.coherence) or your catalog name.</a:t>
            </a:r>
            <a:endParaRPr lang="en-US" sz="13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05 · CUSTOM EVALUATORS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Custom evaluators for domain rules</a:t>
            </a:r>
            <a:endParaRPr lang="en-US" sz="3200" dirty="0"/>
          </a:p>
        </p:txBody>
      </p:sp>
      <p:sp>
        <p:nvSpPr>
          <p:cNvPr id="4" name="Shape 2"/>
          <p:cNvSpPr/>
          <p:nvPr/>
        </p:nvSpPr>
        <p:spPr>
          <a:xfrm>
            <a:off x="815975" y="1882725"/>
            <a:ext cx="3956050" cy="1146770"/>
          </a:xfrm>
          <a:prstGeom prst="roundRect">
            <a:avLst>
              <a:gd name="adj" fmla="val 8583"/>
            </a:avLst>
          </a:prstGeom>
          <a:solidFill>
            <a:srgbClr val="FCFCFA"/>
          </a:solidFill>
          <a:ln w="6350">
            <a:solidFill>
              <a:srgbClr val="D6DCE4"/>
            </a:solidFill>
            <a:prstDash val="solid"/>
          </a:ln>
        </p:spPr>
      </p:sp>
      <p:sp>
        <p:nvSpPr>
          <p:cNvPr id="5" name="Text 3"/>
          <p:cNvSpPr/>
          <p:nvPr/>
        </p:nvSpPr>
        <p:spPr>
          <a:xfrm>
            <a:off x="1022350" y="2063700"/>
            <a:ext cx="364959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Code-based</a:t>
            </a:r>
            <a:endParaRPr lang="en-US" sz="1700" dirty="0"/>
          </a:p>
        </p:txBody>
      </p:sp>
      <p:sp>
        <p:nvSpPr>
          <p:cNvPr id="6" name="Text 4"/>
          <p:cNvSpPr/>
          <p:nvPr/>
        </p:nvSpPr>
        <p:spPr>
          <a:xfrm>
            <a:off x="1022350" y="2386261"/>
            <a:ext cx="364959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A Python grade(sample, item) run in a sandbox, returning 0.0–1.0. Deterministic and cheap.</a:t>
            </a:r>
            <a:endParaRPr lang="en-US" sz="1300" dirty="0"/>
          </a:p>
        </p:txBody>
      </p:sp>
      <p:sp>
        <p:nvSpPr>
          <p:cNvPr id="7" name="Shape 5"/>
          <p:cNvSpPr/>
          <p:nvPr/>
        </p:nvSpPr>
        <p:spPr>
          <a:xfrm>
            <a:off x="815975" y="3188246"/>
            <a:ext cx="3956050" cy="1146770"/>
          </a:xfrm>
          <a:prstGeom prst="roundRect">
            <a:avLst>
              <a:gd name="adj" fmla="val 8583"/>
            </a:avLst>
          </a:prstGeom>
          <a:solidFill>
            <a:srgbClr val="FCFCFA"/>
          </a:solidFill>
          <a:ln w="6350">
            <a:solidFill>
              <a:srgbClr val="D6DCE4"/>
            </a:solidFill>
            <a:prstDash val="solid"/>
          </a:ln>
        </p:spPr>
      </p:sp>
      <p:sp>
        <p:nvSpPr>
          <p:cNvPr id="8" name="Text 6"/>
          <p:cNvSpPr/>
          <p:nvPr/>
        </p:nvSpPr>
        <p:spPr>
          <a:xfrm>
            <a:off x="1022350" y="3369221"/>
            <a:ext cx="364959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Prompt-based</a:t>
            </a:r>
            <a:endParaRPr lang="en-US" sz="1700" dirty="0"/>
          </a:p>
        </p:txBody>
      </p:sp>
      <p:sp>
        <p:nvSpPr>
          <p:cNvPr id="9" name="Text 7"/>
          <p:cNvSpPr/>
          <p:nvPr/>
        </p:nvSpPr>
        <p:spPr>
          <a:xfrm>
            <a:off x="1022350" y="3691781"/>
            <a:ext cx="364959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An LLM-judge prompt with your scoring instructions; returns a result and a reason.</a:t>
            </a:r>
            <a:endParaRPr lang="en-US" sz="1300" dirty="0"/>
          </a:p>
        </p:txBody>
      </p:sp>
      <p:sp>
        <p:nvSpPr>
          <p:cNvPr id="10" name="Text 8"/>
          <p:cNvSpPr/>
          <p:nvPr/>
        </p:nvSpPr>
        <p:spPr>
          <a:xfrm>
            <a:off x="812800" y="4490591"/>
            <a:ext cx="408127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Both are registered in the project’s evaluator catalog, versioned and reused across runs.</a:t>
            </a:r>
            <a:endParaRPr lang="en-US" sz="1300" dirty="0"/>
          </a:p>
        </p:txBody>
      </p:sp>
      <p:sp>
        <p:nvSpPr>
          <p:cNvPr id="11" name="Text 9"/>
          <p:cNvSpPr/>
          <p:nvPr/>
        </p:nvSpPr>
        <p:spPr>
          <a:xfrm>
            <a:off x="5029200" y="1879550"/>
            <a:ext cx="6350000" cy="2752923"/>
          </a:xfrm>
          <a:prstGeom prst="roundRect">
            <a:avLst>
              <a:gd name="adj" fmla="val 3691"/>
            </a:avLst>
          </a:prstGeom>
          <a:solidFill>
            <a:srgbClr val="14213D"/>
          </a:solidFill>
          <a:ln/>
        </p:spPr>
        <p:txBody>
          <a:bodyPr wrap="square" lIns="173442" tIns="173442" rIns="0" bIns="148042" rtlCol="0" anchor="t">
            <a:normAutofit/>
          </a:bodyPr>
          <a:lstStyle/>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def grade(sample: dict, item: dict) -&gt; float:</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a:t>
            </a:r>
            <a:r>
              <a:rPr lang="en-US" sz="1200" dirty="0">
                <a:solidFill>
                  <a:srgbClr val="8FA0B8"/>
                </a:solidFill>
                <a:latin typeface="JetBrains Mono" pitchFamily="49" charset="0"/>
                <a:ea typeface="JetBrains Mono" pitchFamily="49" charset="-122"/>
                <a:cs typeface="JetBrains Mono" pitchFamily="49" charset="-120"/>
              </a:rPr>
              <a:t># dataset eval: fields live on item</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a:t>
            </a:r>
            <a:r>
              <a:rPr lang="en-US" sz="1200" dirty="0">
                <a:solidFill>
                  <a:srgbClr val="8FA0B8"/>
                </a:solidFill>
                <a:latin typeface="JetBrains Mono" pitchFamily="49" charset="0"/>
                <a:ea typeface="JetBrains Mono" pitchFamily="49" charset="-122"/>
                <a:cs typeface="JetBrains Mono" pitchFamily="49" charset="-120"/>
              </a:rPr>
              <a:t># agent-target eval: use item.get("sample")</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response = item.get("response", "")</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expected = item.get("ground_truth", "")</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matches = expected.lower() in response.lower()</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cites = "Section" in response</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a:t>
            </a:r>
            <a:r>
              <a:rPr lang="en-US" sz="1200" dirty="0">
                <a:solidFill>
                  <a:srgbClr val="8FA0B8"/>
                </a:solidFill>
                <a:latin typeface="JetBrains Mono" pitchFamily="49" charset="0"/>
                <a:ea typeface="JetBrains Mono" pitchFamily="49" charset="-122"/>
                <a:cs typeface="JetBrains Mono" pitchFamily="49" charset="-120"/>
              </a:rPr>
              <a:t># domain rule: right answer AND a policy cite</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return 0.7 * matches + 0.3 * cites</a:t>
            </a:r>
            <a:endParaRPr lang="en-US" sz="12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05 · RUBRIC EVALUATORS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Rubrics: weighted dimensions, one judge</a:t>
            </a:r>
            <a:endParaRPr lang="en-US" sz="3200" dirty="0"/>
          </a:p>
        </p:txBody>
      </p:sp>
      <p:sp>
        <p:nvSpPr>
          <p:cNvPr id="4" name="Text 2"/>
          <p:cNvSpPr/>
          <p:nvPr/>
        </p:nvSpPr>
        <p:spPr>
          <a:xfrm>
            <a:off x="898144" y="1879550"/>
            <a:ext cx="4799330" cy="1700957"/>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E4A5C"/>
                </a:solidFill>
                <a:latin typeface="IBM Plex Sans" pitchFamily="34" charset="0"/>
                <a:ea typeface="IBM Plex Sans" pitchFamily="34" charset="-122"/>
                <a:cs typeface="IBM Plex Sans" pitchFamily="34" charset="-120"/>
              </a:rPr>
              <a:t>Each dimension has an id, a description and a weight</a:t>
            </a:r>
            <a:endParaRPr lang="en-US" sz="1300" dirty="0"/>
          </a:p>
          <a:p>
            <a:pPr algn="l" marL="168656" indent="-168656">
              <a:lnSpc>
                <a:spcPts val="1885"/>
              </a:lnSpc>
              <a:buSzPct val="100000"/>
              <a:buChar char="•"/>
            </a:pPr>
            <a:r>
              <a:rPr lang="en-US" sz="1300" dirty="0">
                <a:solidFill>
                  <a:srgbClr val="3E4A5C"/>
                </a:solidFill>
                <a:latin typeface="IBM Plex Sans" pitchFamily="34" charset="0"/>
                <a:ea typeface="IBM Plex Sans" pitchFamily="34" charset="-122"/>
                <a:cs typeface="IBM Plex Sans" pitchFamily="34" charset="-120"/>
              </a:rPr>
              <a:t>The LLM judge scores every applicable dimension 1–5, with a reason</a:t>
            </a:r>
            <a:endParaRPr lang="en-US" sz="1300" dirty="0"/>
          </a:p>
          <a:p>
            <a:pPr algn="l" marL="168656" indent="-168656">
              <a:lnSpc>
                <a:spcPts val="1885"/>
              </a:lnSpc>
              <a:buSzPct val="100000"/>
              <a:buChar char="•"/>
            </a:pPr>
            <a:r>
              <a:rPr lang="en-US" sz="1300" dirty="0">
                <a:solidFill>
                  <a:srgbClr val="3E4A5C"/>
                </a:solidFill>
                <a:latin typeface="IBM Plex Sans" pitchFamily="34" charset="0"/>
                <a:ea typeface="IBM Plex Sans" pitchFamily="34" charset="-122"/>
                <a:cs typeface="IBM Plex Sans" pitchFamily="34" charset="-120"/>
              </a:rPr>
              <a:t>Overall = weighted average of applicable dimensions, normalized to 0–1, then compared with a pass threshold</a:t>
            </a:r>
            <a:endParaRPr lang="en-US" sz="1300" dirty="0"/>
          </a:p>
          <a:p>
            <a:pPr algn="l" marL="168656" indent="-168656">
              <a:lnSpc>
                <a:spcPts val="1885"/>
              </a:lnSpc>
              <a:buSzPct val="100000"/>
              <a:buChar char="•"/>
            </a:pPr>
            <a:r>
              <a:rPr lang="en-US" sz="1300" dirty="0">
                <a:solidFill>
                  <a:srgbClr val="3E4A5C"/>
                </a:solidFill>
                <a:latin typeface="IBM Plex Sans" pitchFamily="34" charset="0"/>
                <a:ea typeface="IBM Plex Sans" pitchFamily="34" charset="-122"/>
                <a:cs typeface="IBM Plex Sans" pitchFamily="34" charset="-120"/>
              </a:rPr>
              <a:t>Generate it from the agent’s name, instructions and tools — or write it by hand</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30900" y="1892250"/>
          <a:ext cx="5448300" cy="1796604"/>
        </p:xfrm>
        <a:graphic>
          <a:graphicData uri="http://schemas.openxmlformats.org/drawingml/2006/table">
            <a:tbl>
              <a:tblPr/>
              <a:tblGrid>
                <a:gridCol w="3160014"/>
                <a:gridCol w="1089660"/>
                <a:gridCol w="1198626"/>
              </a:tblGrid>
              <a:tr h="359321">
                <a:tc>
                  <a:txBody>
                    <a:bodyPr/>
                    <a:lstStyle/>
                    <a:p>
                      <a:pPr indent="0" marL="0">
                        <a:lnSpc>
                          <a:spcPts val="1820"/>
                        </a:lnSpc>
                        <a:buNone/>
                      </a:pPr>
                      <a:r>
                        <a:rPr lang="en-US" sz="1300" b="1" dirty="0">
                          <a:solidFill>
                            <a:srgbClr val="F6F7F4"/>
                          </a:solidFill>
                          <a:latin typeface="IBM Plex Sans" pitchFamily="34" charset="0"/>
                          <a:ea typeface="IBM Plex Sans" pitchFamily="34" charset="-122"/>
                          <a:cs typeface="IBM Plex Sans" pitchFamily="34" charset="-120"/>
                        </a:rPr>
                        <a:t>Dimension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6F7F4"/>
                          </a:solidFill>
                          <a:latin typeface="IBM Plex Sans" pitchFamily="34" charset="0"/>
                          <a:ea typeface="IBM Plex Sans" pitchFamily="34" charset="-122"/>
                          <a:cs typeface="IBM Plex Sans" pitchFamily="34" charset="-120"/>
                        </a:rPr>
                        <a:t>Weight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6F7F4"/>
                          </a:solidFill>
                          <a:latin typeface="IBM Plex Sans" pitchFamily="34" charset="0"/>
                          <a:ea typeface="IBM Plex Sans" pitchFamily="34" charset="-122"/>
                          <a:cs typeface="IBM Plex Sans" pitchFamily="34" charset="-120"/>
                        </a:rPr>
                        <a:t>Score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intent_recognition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35932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tool_usage_accuracy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ABDC1"/>
                      </a:solidFill>
                      <a:prstDash val="solid"/>
                      <a:round/>
                      <a:headEnd type="none" w="med" len="med"/>
                      <a:tailEnd type="none" w="med" len="med"/>
                    </a:lnB>
                    <a:solidFill>
                      <a:srgbClr val="E9EDF2"/>
                    </a:solidFill>
                  </a:tcPr>
                </a:tc>
                <a:tc>
                  <a:txBody>
                    <a:bodyPr/>
                    <a:lstStyle/>
                    <a:p>
                      <a:pPr algn="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ABDC1"/>
                      </a:solidFill>
                      <a:prstDash val="solid"/>
                      <a:round/>
                      <a:headEnd type="none" w="med" len="med"/>
                      <a:tailEnd type="none" w="med" len="med"/>
                    </a:lnB>
                    <a:solidFill>
                      <a:srgbClr val="E9EDF2"/>
                    </a:solidFill>
                  </a:tcPr>
                </a:tc>
                <a:tc>
                  <a:txBody>
                    <a:bodyPr/>
                    <a:lstStyle/>
                    <a:p>
                      <a:pPr algn="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ABDC1"/>
                      </a:solidFill>
                      <a:prstDash val="solid"/>
                      <a:round/>
                      <a:headEnd type="none" w="med" len="med"/>
                      <a:tailEnd type="none" w="med" len="med"/>
                    </a:lnB>
                    <a:solidFill>
                      <a:srgbClr val="E9EDF2"/>
                    </a:solidFill>
                  </a:tcPr>
                </a:tc>
              </a:tr>
              <a:tr h="35932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task_completion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35932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communication_clarity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ABDC1"/>
                      </a:solidFill>
                      <a:prstDash val="solid"/>
                      <a:round/>
                      <a:headEnd type="none" w="med" len="med"/>
                      <a:tailEnd type="none" w="med" len="med"/>
                    </a:lnB>
                    <a:solidFill>
                      <a:srgbClr val="E9EDF2"/>
                    </a:solidFill>
                  </a:tcPr>
                </a:tc>
                <a:tc>
                  <a:txBody>
                    <a:bodyPr/>
                    <a:lstStyle/>
                    <a:p>
                      <a:pPr algn="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ABDC1"/>
                      </a:solidFill>
                      <a:prstDash val="solid"/>
                      <a:round/>
                      <a:headEnd type="none" w="med" len="med"/>
                      <a:tailEnd type="none" w="med" len="med"/>
                    </a:lnB>
                    <a:solidFill>
                      <a:srgbClr val="E9EDF2"/>
                    </a:solidFill>
                  </a:tcPr>
                </a:tc>
                <a:tc>
                  <a:txBody>
                    <a:bodyPr/>
                    <a:lstStyle/>
                    <a:p>
                      <a:pPr algn="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ABDC1"/>
                      </a:solidFill>
                      <a:prstDash val="solid"/>
                      <a:round/>
                      <a:headEnd type="none" w="med" len="med"/>
                      <a:tailEnd type="none" w="med" len="med"/>
                    </a:lnB>
                    <a:solidFill>
                      <a:srgbClr val="E9EDF2"/>
                    </a:solidFill>
                  </a:tcPr>
                </a:tc>
              </a:tr>
            </a:tbl>
          </a:graphicData>
        </a:graphic>
      </p:graphicFrame>
      <p:sp>
        <p:nvSpPr>
          <p:cNvPr id="6" name="Shape 3"/>
          <p:cNvSpPr/>
          <p:nvPr/>
        </p:nvSpPr>
        <p:spPr>
          <a:xfrm>
            <a:off x="5918200" y="3841254"/>
            <a:ext cx="5461000" cy="868660"/>
          </a:xfrm>
          <a:prstGeom prst="roundRect">
            <a:avLst>
              <a:gd name="adj" fmla="val 11696"/>
            </a:avLst>
          </a:prstGeom>
          <a:solidFill>
            <a:srgbClr val="14213D"/>
          </a:solidFill>
          <a:ln/>
        </p:spPr>
      </p:sp>
      <p:sp>
        <p:nvSpPr>
          <p:cNvPr id="7" name="Text 4"/>
          <p:cNvSpPr/>
          <p:nvPr/>
        </p:nvSpPr>
        <p:spPr>
          <a:xfrm>
            <a:off x="6121400" y="4019054"/>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(45 + 24 + 18 + 15) ÷ 24 = 4.25 / 5</a:t>
            </a:r>
            <a:endParaRPr lang="en-US" sz="1300" dirty="0"/>
          </a:p>
        </p:txBody>
      </p:sp>
      <p:sp>
        <p:nvSpPr>
          <p:cNvPr id="8" name="Text 5"/>
          <p:cNvSpPr/>
          <p:nvPr/>
        </p:nvSpPr>
        <p:spPr>
          <a:xfrm>
            <a:off x="6121400" y="4300984"/>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Normalized ≈ </a:t>
            </a:r>
            <a:r>
              <a:rPr lang="en-US" sz="1300" dirty="0">
                <a:solidFill>
                  <a:srgbClr val="F2A65A"/>
                </a:solidFill>
                <a:latin typeface="IBM Plex Sans" pitchFamily="34" charset="0"/>
                <a:ea typeface="IBM Plex Sans" pitchFamily="34" charset="-122"/>
                <a:cs typeface="IBM Plex Sans" pitchFamily="34" charset="-120"/>
              </a:rPr>
              <a:t>0.8</a:t>
            </a:r>
            <a:r>
              <a:rPr lang="en-US" sz="1300" dirty="0">
                <a:solidFill>
                  <a:srgbClr val="B8C4D6"/>
                </a:solidFill>
                <a:latin typeface="IBM Plex Sans" pitchFamily="34" charset="0"/>
                <a:ea typeface="IBM Plex Sans" pitchFamily="34" charset="-122"/>
                <a:cs typeface="IBM Plex Sans" pitchFamily="34" charset="-120"/>
              </a:rPr>
              <a:t> → </a:t>
            </a:r>
            <a:r>
              <a:rPr lang="en-US" sz="1300" b="1" dirty="0">
                <a:solidFill>
                  <a:srgbClr val="B8C4D6"/>
                </a:solidFill>
                <a:latin typeface="IBM Plex Sans" pitchFamily="34" charset="0"/>
                <a:ea typeface="IBM Plex Sans" pitchFamily="34" charset="-122"/>
                <a:cs typeface="IBM Plex Sans" pitchFamily="34" charset="-120"/>
              </a:rPr>
              <a:t>pass</a:t>
            </a:r>
            <a:r>
              <a:rPr lang="en-US" sz="1300" dirty="0">
                <a:solidFill>
                  <a:srgbClr val="B8C4D6"/>
                </a:solidFill>
                <a:latin typeface="IBM Plex Sans" pitchFamily="34" charset="0"/>
                <a:ea typeface="IBM Plex Sans" pitchFamily="34" charset="-122"/>
                <a:cs typeface="IBM Plex Sans" pitchFamily="34" charset="-120"/>
              </a:rPr>
              <a:t> at a 0.5 threshold</a:t>
            </a:r>
            <a:endParaRPr lang="en-US" sz="13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9ED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06 · CUSTOM MNG RUBRIC</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Five weighted dimensions, one hard gate</a:t>
            </a:r>
            <a:endParaRPr lang="en-US" sz="3200" dirty="0"/>
          </a:p>
        </p:txBody>
      </p:sp>
      <p:sp>
        <p:nvSpPr>
          <p:cNvPr id="4" name="Text 2"/>
          <p:cNvSpPr/>
          <p:nvPr/>
        </p:nvSpPr>
        <p:spPr>
          <a:xfrm>
            <a:off x="812800" y="1879550"/>
            <a:ext cx="198548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Policy-Logic Fidelity</a:t>
            </a:r>
            <a:endParaRPr lang="en-US" sz="1400" dirty="0"/>
          </a:p>
        </p:txBody>
      </p:sp>
      <p:sp>
        <p:nvSpPr>
          <p:cNvPr id="5" name="Text 3"/>
          <p:cNvSpPr/>
          <p:nvPr/>
        </p:nvSpPr>
        <p:spPr>
          <a:xfrm>
            <a:off x="6676509" y="1879550"/>
            <a:ext cx="460891" cy="27429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2458C8"/>
                </a:solidFill>
                <a:latin typeface="IBM Plex Sans" pitchFamily="34" charset="0"/>
                <a:ea typeface="IBM Plex Sans" pitchFamily="34" charset="-122"/>
                <a:cs typeface="IBM Plex Sans" pitchFamily="34" charset="-120"/>
              </a:rPr>
              <a:t>30%</a:t>
            </a:r>
            <a:endParaRPr lang="en-US" sz="1400" dirty="0"/>
          </a:p>
        </p:txBody>
      </p:sp>
      <p:sp>
        <p:nvSpPr>
          <p:cNvPr id="6" name="Shape 4"/>
          <p:cNvSpPr/>
          <p:nvPr/>
        </p:nvSpPr>
        <p:spPr>
          <a:xfrm>
            <a:off x="812800" y="2191941"/>
            <a:ext cx="5715000" cy="127000"/>
          </a:xfrm>
          <a:prstGeom prst="roundRect">
            <a:avLst>
              <a:gd name="adj" fmla="val 50000"/>
            </a:avLst>
          </a:prstGeom>
          <a:solidFill>
            <a:srgbClr val="2458C8"/>
          </a:solidFill>
          <a:ln/>
        </p:spPr>
      </p:sp>
      <p:sp>
        <p:nvSpPr>
          <p:cNvPr id="7" name="Text 5"/>
          <p:cNvSpPr/>
          <p:nvPr/>
        </p:nvSpPr>
        <p:spPr>
          <a:xfrm>
            <a:off x="812800" y="2471341"/>
            <a:ext cx="204680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Evidence Sufficiency</a:t>
            </a:r>
            <a:endParaRPr lang="en-US" sz="1400" dirty="0"/>
          </a:p>
        </p:txBody>
      </p:sp>
      <p:sp>
        <p:nvSpPr>
          <p:cNvPr id="8" name="Text 6"/>
          <p:cNvSpPr/>
          <p:nvPr/>
        </p:nvSpPr>
        <p:spPr>
          <a:xfrm>
            <a:off x="6676509" y="2471341"/>
            <a:ext cx="460891" cy="27429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2458C8"/>
                </a:solidFill>
                <a:latin typeface="IBM Plex Sans" pitchFamily="34" charset="0"/>
                <a:ea typeface="IBM Plex Sans" pitchFamily="34" charset="-122"/>
                <a:cs typeface="IBM Plex Sans" pitchFamily="34" charset="-120"/>
              </a:rPr>
              <a:t>20%</a:t>
            </a:r>
            <a:endParaRPr lang="en-US" sz="1400" dirty="0"/>
          </a:p>
        </p:txBody>
      </p:sp>
      <p:sp>
        <p:nvSpPr>
          <p:cNvPr id="9" name="Shape 7"/>
          <p:cNvSpPr/>
          <p:nvPr/>
        </p:nvSpPr>
        <p:spPr>
          <a:xfrm>
            <a:off x="812800" y="2783731"/>
            <a:ext cx="3810000" cy="127000"/>
          </a:xfrm>
          <a:prstGeom prst="roundRect">
            <a:avLst>
              <a:gd name="adj" fmla="val 50000"/>
            </a:avLst>
          </a:prstGeom>
          <a:solidFill>
            <a:srgbClr val="2458C8"/>
          </a:solidFill>
          <a:ln/>
        </p:spPr>
      </p:sp>
      <p:sp>
        <p:nvSpPr>
          <p:cNvPr id="10" name="Text 8"/>
          <p:cNvSpPr/>
          <p:nvPr/>
        </p:nvSpPr>
        <p:spPr>
          <a:xfrm>
            <a:off x="812800" y="3063131"/>
            <a:ext cx="243661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Product-Specific Criteria</a:t>
            </a:r>
            <a:endParaRPr lang="en-US" sz="1400" dirty="0"/>
          </a:p>
        </p:txBody>
      </p:sp>
      <p:sp>
        <p:nvSpPr>
          <p:cNvPr id="11" name="Text 9"/>
          <p:cNvSpPr/>
          <p:nvPr/>
        </p:nvSpPr>
        <p:spPr>
          <a:xfrm>
            <a:off x="6676509" y="3063131"/>
            <a:ext cx="460891" cy="27429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2458C8"/>
                </a:solidFill>
                <a:latin typeface="IBM Plex Sans" pitchFamily="34" charset="0"/>
                <a:ea typeface="IBM Plex Sans" pitchFamily="34" charset="-122"/>
                <a:cs typeface="IBM Plex Sans" pitchFamily="34" charset="-120"/>
              </a:rPr>
              <a:t>20%</a:t>
            </a:r>
            <a:endParaRPr lang="en-US" sz="1400" dirty="0"/>
          </a:p>
        </p:txBody>
      </p:sp>
      <p:sp>
        <p:nvSpPr>
          <p:cNvPr id="12" name="Shape 10"/>
          <p:cNvSpPr/>
          <p:nvPr/>
        </p:nvSpPr>
        <p:spPr>
          <a:xfrm>
            <a:off x="812800" y="3375521"/>
            <a:ext cx="3810000" cy="127000"/>
          </a:xfrm>
          <a:prstGeom prst="roundRect">
            <a:avLst>
              <a:gd name="adj" fmla="val 50000"/>
            </a:avLst>
          </a:prstGeom>
          <a:solidFill>
            <a:srgbClr val="2458C8"/>
          </a:solidFill>
          <a:ln/>
        </p:spPr>
      </p:sp>
      <p:sp>
        <p:nvSpPr>
          <p:cNvPr id="13" name="Text 11"/>
          <p:cNvSpPr/>
          <p:nvPr/>
        </p:nvSpPr>
        <p:spPr>
          <a:xfrm>
            <a:off x="812800" y="3654921"/>
            <a:ext cx="214937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HCPCS Code Mapping</a:t>
            </a:r>
            <a:endParaRPr lang="en-US" sz="1400" dirty="0"/>
          </a:p>
        </p:txBody>
      </p:sp>
      <p:sp>
        <p:nvSpPr>
          <p:cNvPr id="14" name="Text 12"/>
          <p:cNvSpPr/>
          <p:nvPr/>
        </p:nvSpPr>
        <p:spPr>
          <a:xfrm>
            <a:off x="6676509" y="3654921"/>
            <a:ext cx="460891" cy="27429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2458C8"/>
                </a:solidFill>
                <a:latin typeface="IBM Plex Sans" pitchFamily="34" charset="0"/>
                <a:ea typeface="IBM Plex Sans" pitchFamily="34" charset="-122"/>
                <a:cs typeface="IBM Plex Sans" pitchFamily="34" charset="-120"/>
              </a:rPr>
              <a:t>15%</a:t>
            </a:r>
            <a:endParaRPr lang="en-US" sz="1400" dirty="0"/>
          </a:p>
        </p:txBody>
      </p:sp>
      <p:sp>
        <p:nvSpPr>
          <p:cNvPr id="15" name="Shape 13"/>
          <p:cNvSpPr/>
          <p:nvPr/>
        </p:nvSpPr>
        <p:spPr>
          <a:xfrm>
            <a:off x="812800" y="3967311"/>
            <a:ext cx="2857500" cy="127000"/>
          </a:xfrm>
          <a:prstGeom prst="roundRect">
            <a:avLst>
              <a:gd name="adj" fmla="val 50000"/>
            </a:avLst>
          </a:prstGeom>
          <a:solidFill>
            <a:srgbClr val="2458C8"/>
          </a:solidFill>
          <a:ln/>
        </p:spPr>
      </p:sp>
      <p:sp>
        <p:nvSpPr>
          <p:cNvPr id="16" name="Text 14"/>
          <p:cNvSpPr/>
          <p:nvPr/>
        </p:nvSpPr>
        <p:spPr>
          <a:xfrm>
            <a:off x="812800" y="4246711"/>
            <a:ext cx="339834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Plan / Auth / Notification / Version</a:t>
            </a:r>
            <a:endParaRPr lang="en-US" sz="1400" dirty="0"/>
          </a:p>
        </p:txBody>
      </p:sp>
      <p:sp>
        <p:nvSpPr>
          <p:cNvPr id="17" name="Text 15"/>
          <p:cNvSpPr/>
          <p:nvPr/>
        </p:nvSpPr>
        <p:spPr>
          <a:xfrm>
            <a:off x="6676509" y="4246711"/>
            <a:ext cx="460891" cy="27429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2458C8"/>
                </a:solidFill>
                <a:latin typeface="IBM Plex Sans" pitchFamily="34" charset="0"/>
                <a:ea typeface="IBM Plex Sans" pitchFamily="34" charset="-122"/>
                <a:cs typeface="IBM Plex Sans" pitchFamily="34" charset="-120"/>
              </a:rPr>
              <a:t>15%</a:t>
            </a:r>
            <a:endParaRPr lang="en-US" sz="1400" dirty="0"/>
          </a:p>
        </p:txBody>
      </p:sp>
      <p:sp>
        <p:nvSpPr>
          <p:cNvPr id="18" name="Shape 16"/>
          <p:cNvSpPr/>
          <p:nvPr/>
        </p:nvSpPr>
        <p:spPr>
          <a:xfrm>
            <a:off x="812800" y="4559102"/>
            <a:ext cx="2857500" cy="127000"/>
          </a:xfrm>
          <a:prstGeom prst="roundRect">
            <a:avLst>
              <a:gd name="adj" fmla="val 50000"/>
            </a:avLst>
          </a:prstGeom>
          <a:solidFill>
            <a:srgbClr val="2458C8"/>
          </a:solidFill>
          <a:ln/>
        </p:spPr>
      </p:sp>
      <p:sp>
        <p:nvSpPr>
          <p:cNvPr id="19" name="Shape 17"/>
          <p:cNvSpPr/>
          <p:nvPr/>
        </p:nvSpPr>
        <p:spPr>
          <a:xfrm>
            <a:off x="7442200" y="1879550"/>
            <a:ext cx="3937000" cy="2692301"/>
          </a:xfrm>
          <a:prstGeom prst="roundRect">
            <a:avLst>
              <a:gd name="adj" fmla="val 3774"/>
            </a:avLst>
          </a:prstGeom>
          <a:solidFill>
            <a:srgbClr val="14213D"/>
          </a:solidFill>
          <a:ln/>
        </p:spPr>
      </p:sp>
      <p:sp>
        <p:nvSpPr>
          <p:cNvPr id="20" name="Text 18"/>
          <p:cNvSpPr/>
          <p:nvPr/>
        </p:nvSpPr>
        <p:spPr>
          <a:xfrm>
            <a:off x="7696200" y="2133550"/>
            <a:ext cx="35318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7F4"/>
                </a:solidFill>
                <a:latin typeface="IBM Plex Sans" pitchFamily="34" charset="0"/>
                <a:ea typeface="IBM Plex Sans" pitchFamily="34" charset="-122"/>
                <a:cs typeface="IBM Plex Sans" pitchFamily="34" charset="-120"/>
              </a:rPr>
              <a:t>How it scores</a:t>
            </a:r>
            <a:endParaRPr lang="en-US" sz="1700" dirty="0"/>
          </a:p>
        </p:txBody>
      </p:sp>
      <p:sp>
        <p:nvSpPr>
          <p:cNvPr id="21" name="Text 19"/>
          <p:cNvSpPr/>
          <p:nvPr/>
        </p:nvSpPr>
        <p:spPr>
          <a:xfrm>
            <a:off x="7696200" y="2519611"/>
            <a:ext cx="353187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A65A"/>
                </a:solidFill>
                <a:latin typeface="JetBrains Mono" pitchFamily="49" charset="0"/>
                <a:ea typeface="JetBrains Mono" pitchFamily="49" charset="-122"/>
                <a:cs typeface="JetBrains Mono" pitchFamily="49" charset="-120"/>
              </a:rPr>
              <a:t>S = Σ(w × n)</a:t>
            </a:r>
            <a:endParaRPr lang="en-US" sz="1600" dirty="0"/>
          </a:p>
        </p:txBody>
      </p:sp>
      <p:sp>
        <p:nvSpPr>
          <p:cNvPr id="22" name="Text 20"/>
          <p:cNvSpPr/>
          <p:nvPr/>
        </p:nvSpPr>
        <p:spPr>
          <a:xfrm>
            <a:off x="7781544" y="2931071"/>
            <a:ext cx="3438906" cy="141218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B8C4D6"/>
                </a:solidFill>
                <a:latin typeface="IBM Plex Sans" pitchFamily="34" charset="0"/>
                <a:ea typeface="IBM Plex Sans" pitchFamily="34" charset="-122"/>
                <a:cs typeface="IBM Plex Sans" pitchFamily="34" charset="-120"/>
              </a:rPr>
              <a:t>Each dimension scored 1–5, with a reason</a:t>
            </a:r>
            <a:endParaRPr lang="en-US" sz="1300" dirty="0"/>
          </a:p>
          <a:p>
            <a:pPr algn="l" marL="168656" indent="-168656">
              <a:lnSpc>
                <a:spcPts val="1820"/>
              </a:lnSpc>
              <a:buSzPct val="100000"/>
              <a:buChar char="•"/>
            </a:pPr>
            <a:r>
              <a:rPr lang="en-US" sz="1300" dirty="0">
                <a:solidFill>
                  <a:srgbClr val="B8C4D6"/>
                </a:solidFill>
                <a:latin typeface="IBM Plex Sans" pitchFamily="34" charset="0"/>
                <a:ea typeface="IBM Plex Sans" pitchFamily="34" charset="-122"/>
                <a:cs typeface="IBM Plex Sans" pitchFamily="34" charset="-120"/>
              </a:rPr>
              <a:t>Diagnostic threshold ≥ 3 per dimension — it flags, it doesn’t fail</a:t>
            </a:r>
            <a:endParaRPr lang="en-US" sz="1300" dirty="0"/>
          </a:p>
          <a:p>
            <a:pPr algn="l" marL="168656" indent="-168656">
              <a:lnSpc>
                <a:spcPts val="1820"/>
              </a:lnSpc>
              <a:buSzPct val="100000"/>
              <a:buChar char="•"/>
            </a:pPr>
            <a:r>
              <a:rPr lang="en-US" sz="1300" dirty="0">
                <a:solidFill>
                  <a:srgbClr val="B8C4D6"/>
                </a:solidFill>
                <a:latin typeface="IBM Plex Sans" pitchFamily="34" charset="0"/>
                <a:ea typeface="IBM Plex Sans" pitchFamily="34" charset="-122"/>
                <a:cs typeface="IBM Plex Sans" pitchFamily="34" charset="-120"/>
              </a:rPr>
              <a:t>Scores normalized, then weighted (weights sum to 100%)</a:t>
            </a:r>
            <a:endParaRPr lang="en-US" sz="1300" dirty="0"/>
          </a:p>
          <a:p>
            <a:pPr algn="l" marL="168656" indent="-168656">
              <a:lnSpc>
                <a:spcPts val="1820"/>
              </a:lnSpc>
              <a:buSzPct val="100000"/>
              <a:buChar char="•"/>
            </a:pPr>
            <a:r>
              <a:rPr lang="en-US" sz="1300" dirty="0">
                <a:solidFill>
                  <a:srgbClr val="F6F7F4"/>
                </a:solidFill>
                <a:latin typeface="IBM Plex Sans" pitchFamily="34" charset="0"/>
                <a:ea typeface="IBM Plex Sans" pitchFamily="34" charset="-122"/>
                <a:cs typeface="IBM Plex Sans" pitchFamily="34" charset="-120"/>
              </a:rPr>
              <a:t>Only the weighted aggregate is a hard gate</a:t>
            </a:r>
            <a:endParaRPr lang="en-US" sz="13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07 · PYTHON + FOUNDRY ENDPOINTS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Invoking Foundry evals from Python</a:t>
            </a:r>
            <a:endParaRPr lang="en-US" sz="3200" dirty="0"/>
          </a:p>
        </p:txBody>
      </p:sp>
      <p:sp>
        <p:nvSpPr>
          <p:cNvPr id="4" name="Text 2"/>
          <p:cNvSpPr/>
          <p:nvPr/>
        </p:nvSpPr>
        <p:spPr>
          <a:xfrm>
            <a:off x="883841" y="1879550"/>
            <a:ext cx="3950287" cy="1874441"/>
          </a:xfrm>
          <a:prstGeom prst="rect">
            <a:avLst/>
          </a:prstGeom>
          <a:noFill/>
          <a:ln/>
        </p:spPr>
        <p:txBody>
          <a:bodyPr wrap="square" lIns="0" tIns="0" rIns="0" bIns="0" rtlCol="0" anchor="t">
            <a:normAutofit/>
          </a:bodyPr>
          <a:lstStyle/>
          <a:p>
            <a:pPr algn="l" marL="182959" indent="-182959">
              <a:lnSpc>
                <a:spcPts val="1820"/>
              </a:lnSpc>
              <a:buSzPct val="100000"/>
              <a:buFontTx/>
              <a:buAutoNum type="arabicPeriod" startAt="1"/>
            </a:pPr>
            <a:r>
              <a:rPr lang="en-US" sz="1300" dirty="0">
                <a:solidFill>
                  <a:srgbClr val="3E4A5C"/>
                </a:solidFill>
                <a:latin typeface="IBM Plex Sans" pitchFamily="34" charset="0"/>
                <a:ea typeface="IBM Plex Sans" pitchFamily="34" charset="-122"/>
                <a:cs typeface="IBM Plex Sans" pitchFamily="34" charset="-120"/>
              </a:rPr>
              <a:t>Authenticate to the project endpoint with DefaultAzureCredential</a:t>
            </a:r>
            <a:endParaRPr lang="en-US" sz="1300" dirty="0"/>
          </a:p>
          <a:p>
            <a:pPr algn="l" marL="182959" indent="-182959">
              <a:lnSpc>
                <a:spcPts val="1820"/>
              </a:lnSpc>
              <a:buSzPct val="100000"/>
              <a:buFontTx/>
              <a:buAutoNum type="arabicPeriod" startAt="1"/>
            </a:pPr>
            <a:r>
              <a:rPr lang="en-US" sz="1300" dirty="0">
                <a:solidFill>
                  <a:srgbClr val="3E4A5C"/>
                </a:solidFill>
                <a:latin typeface="IBM Plex Sans" pitchFamily="34" charset="0"/>
                <a:ea typeface="IBM Plex Sans" pitchFamily="34" charset="-122"/>
                <a:cs typeface="IBM Plex Sans" pitchFamily="34" charset="-120"/>
              </a:rPr>
              <a:t>Get the OpenAI-compatible client for the Evals API</a:t>
            </a:r>
            <a:endParaRPr lang="en-US" sz="1300" dirty="0"/>
          </a:p>
          <a:p>
            <a:pPr algn="l" marL="182959" indent="-182959">
              <a:lnSpc>
                <a:spcPts val="1820"/>
              </a:lnSpc>
              <a:buSzPct val="100000"/>
              <a:buFontTx/>
              <a:buAutoNum type="arabicPeriod" startAt="1"/>
            </a:pPr>
            <a:r>
              <a:rPr lang="en-US" sz="1300" dirty="0">
                <a:solidFill>
                  <a:srgbClr val="3E4A5C"/>
                </a:solidFill>
                <a:latin typeface="IBM Plex Sans" pitchFamily="34" charset="0"/>
                <a:ea typeface="IBM Plex Sans" pitchFamily="34" charset="-122"/>
                <a:cs typeface="IBM Plex Sans" pitchFamily="34" charset="-120"/>
              </a:rPr>
              <a:t>Upload the dataset and keep its id</a:t>
            </a:r>
            <a:endParaRPr lang="en-US" sz="1300" dirty="0"/>
          </a:p>
          <a:p>
            <a:pPr algn="l" marL="182959" indent="-182959">
              <a:lnSpc>
                <a:spcPts val="1820"/>
              </a:lnSpc>
              <a:buSzPct val="100000"/>
              <a:buFontTx/>
              <a:buAutoNum type="arabicPeriod" startAt="1"/>
            </a:pPr>
            <a:r>
              <a:rPr lang="en-US" sz="1300" dirty="0">
                <a:solidFill>
                  <a:srgbClr val="3E4A5C"/>
                </a:solidFill>
                <a:latin typeface="IBM Plex Sans" pitchFamily="34" charset="0"/>
                <a:ea typeface="IBM Plex Sans" pitchFamily="34" charset="-122"/>
                <a:cs typeface="IBM Plex Sans" pitchFamily="34" charset="-120"/>
              </a:rPr>
              <a:t>Create the eval: item schema + testing criteria</a:t>
            </a:r>
            <a:endParaRPr lang="en-US" sz="1300" dirty="0"/>
          </a:p>
          <a:p>
            <a:pPr algn="l" marL="182959" indent="-182959">
              <a:lnSpc>
                <a:spcPts val="1820"/>
              </a:lnSpc>
              <a:buSzPct val="100000"/>
              <a:buFontTx/>
              <a:buAutoNum type="arabicPeriod" startAt="1"/>
            </a:pPr>
            <a:r>
              <a:rPr lang="en-US" sz="1300" dirty="0">
                <a:solidFill>
                  <a:srgbClr val="3E4A5C"/>
                </a:solidFill>
                <a:latin typeface="IBM Plex Sans" pitchFamily="34" charset="0"/>
                <a:ea typeface="IBM Plex Sans" pitchFamily="34" charset="-122"/>
                <a:cs typeface="IBM Plex Sans" pitchFamily="34" charset="-120"/>
              </a:rPr>
              <a:t>Create a run that references the dataset id</a:t>
            </a:r>
            <a:endParaRPr lang="en-US" sz="1300" dirty="0"/>
          </a:p>
          <a:p>
            <a:pPr algn="l" marL="182959" indent="-182959">
              <a:lnSpc>
                <a:spcPts val="1820"/>
              </a:lnSpc>
              <a:buSzPct val="100000"/>
              <a:buFontTx/>
              <a:buAutoNum type="arabicPeriod" startAt="1"/>
            </a:pPr>
            <a:r>
              <a:rPr lang="en-US" sz="1300" dirty="0">
                <a:solidFill>
                  <a:srgbClr val="3E4A5C"/>
                </a:solidFill>
                <a:latin typeface="IBM Plex Sans" pitchFamily="34" charset="0"/>
                <a:ea typeface="IBM Plex Sans" pitchFamily="34" charset="-122"/>
                <a:cs typeface="IBM Plex Sans" pitchFamily="34" charset="-120"/>
              </a:rPr>
              <a:t>Poll until done; read report_url and output items</a:t>
            </a:r>
            <a:endParaRPr lang="en-US" sz="1300" dirty="0"/>
          </a:p>
        </p:txBody>
      </p:sp>
      <p:sp>
        <p:nvSpPr>
          <p:cNvPr id="5" name="Text 3"/>
          <p:cNvSpPr/>
          <p:nvPr/>
        </p:nvSpPr>
        <p:spPr>
          <a:xfrm>
            <a:off x="812800" y="3855591"/>
            <a:ext cx="40289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8C8"/>
                </a:solidFill>
                <a:latin typeface="JetBrains Mono" pitchFamily="49" charset="0"/>
                <a:ea typeface="JetBrains Mono" pitchFamily="49" charset="-122"/>
                <a:cs typeface="JetBrains Mono" pitchFamily="49" charset="-120"/>
              </a:rPr>
              <a:t>azure-ai-projects ≥ 2.8.0</a:t>
            </a:r>
            <a:endParaRPr lang="en-US" sz="1200" dirty="0"/>
          </a:p>
        </p:txBody>
      </p:sp>
      <p:sp>
        <p:nvSpPr>
          <p:cNvPr id="6" name="Text 4"/>
          <p:cNvSpPr/>
          <p:nvPr/>
        </p:nvSpPr>
        <p:spPr>
          <a:xfrm>
            <a:off x="5029200" y="1879550"/>
            <a:ext cx="6350000" cy="3819525"/>
          </a:xfrm>
          <a:prstGeom prst="roundRect">
            <a:avLst>
              <a:gd name="adj" fmla="val 2660"/>
            </a:avLst>
          </a:prstGeom>
          <a:solidFill>
            <a:srgbClr val="14213D"/>
          </a:solidFill>
          <a:ln/>
        </p:spPr>
        <p:txBody>
          <a:bodyPr wrap="square" lIns="173442" tIns="173442" rIns="0" bIns="148042" rtlCol="0" anchor="t">
            <a:normAutofit/>
          </a:bodyPr>
          <a:lstStyle/>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project_client = AIProjectClient(</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endpoint=os.environ["AZURE_AI_PROJECT_ENDPOINT"],</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credential=DefaultAzureCredential())</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client = project_client.get_openai_client()</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evaluation = client.evals.create(</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name="Agent Quality Evaluation",</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data_source_config=data_source_config,</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testing_criteria=testing_criteria)</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run = client.evals.runs.create(eval_id=evaluation.id, ...)</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while run.status not in ("completed", "failed"):</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time.sleep(5)</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run = client.evals.runs.retrieve(</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run_id=run.id, eval_id=evaluation.id)</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print(run.report_url)</a:t>
            </a:r>
            <a:endParaRPr lang="en-US" sz="120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IBM Plex Sans" pitchFamily="34" charset="0"/>
                <a:ea typeface="IBM Plex Sans" pitchFamily="34" charset="-122"/>
                <a:cs typeface="IBM Plex Sans" pitchFamily="34" charset="-120"/>
              </a:rPr>
              <a:t>07 · THE VNET CONSTRAINT</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7F4"/>
                </a:solidFill>
                <a:latin typeface="IBM Plex Sans" pitchFamily="34" charset="0"/>
                <a:ea typeface="IBM Plex Sans" pitchFamily="34" charset="-122"/>
                <a:cs typeface="IBM Plex Sans" pitchFamily="34" charset="-120"/>
              </a:rPr>
              <a:t>Inline data hit the VNet’s 2 MB cap — datasets fixed it</a:t>
            </a:r>
            <a:endParaRPr lang="en-US" sz="3200" dirty="0"/>
          </a:p>
        </p:txBody>
      </p:sp>
      <p:sp>
        <p:nvSpPr>
          <p:cNvPr id="4" name="Text 2"/>
          <p:cNvSpPr/>
          <p:nvPr/>
        </p:nvSpPr>
        <p:spPr>
          <a:xfrm>
            <a:off x="812800" y="1974106"/>
            <a:ext cx="1270000" cy="434330"/>
          </a:xfrm>
          <a:prstGeom prst="roundRect">
            <a:avLst>
              <a:gd name="adj" fmla="val 17544"/>
            </a:avLst>
          </a:prstGeom>
          <a:solidFill>
            <a:srgbClr val="F2A65A"/>
          </a:solidFill>
          <a:ln/>
        </p:spPr>
        <p:txBody>
          <a:bodyPr wrap="square" lIns="79282" tIns="79282" rIns="79282" bIns="53882" rtlCol="0" anchor="t">
            <a:normAutofit/>
          </a:bodyPr>
          <a:lstStyle/>
          <a:p>
            <a:pPr algn="ctr" indent="0" marL="0">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FAIL</a:t>
            </a:r>
            <a:endParaRPr lang="en-US" sz="1300" dirty="0"/>
          </a:p>
        </p:txBody>
      </p:sp>
      <p:sp>
        <p:nvSpPr>
          <p:cNvPr id="5" name="Text 3"/>
          <p:cNvSpPr/>
          <p:nvPr/>
        </p:nvSpPr>
        <p:spPr>
          <a:xfrm>
            <a:off x="2190750" y="1860500"/>
            <a:ext cx="1943100" cy="661591"/>
          </a:xfrm>
          <a:prstGeom prst="roundRect">
            <a:avLst>
              <a:gd name="adj" fmla="val 10558"/>
            </a:avLst>
          </a:prstGeom>
          <a:noFill/>
          <a:ln w="12700">
            <a:solidFill>
              <a:srgbClr val="F2A65A"/>
            </a:solidFill>
            <a:prstDash val="dash"/>
          </a:ln>
        </p:spPr>
        <p:txBody>
          <a:bodyPr wrap="square" lIns="112892" tIns="87492" rIns="62092" bIns="62092" rtlCol="0" anchor="t">
            <a:normAutofit/>
          </a:bodyPr>
          <a:lstStyle/>
          <a:p>
            <a:pPr algn="l" indent="0" marL="0">
              <a:lnSpc>
                <a:spcPts val="1755"/>
              </a:lnSpc>
              <a:buNone/>
            </a:pPr>
            <a:r>
              <a:rPr lang="en-US" sz="1300" dirty="0">
                <a:solidFill>
                  <a:srgbClr val="F6F7F4"/>
                </a:solidFill>
                <a:latin typeface="IBM Plex Sans" pitchFamily="34" charset="0"/>
                <a:ea typeface="IBM Plex Sans" pitchFamily="34" charset="-122"/>
                <a:cs typeface="IBM Plex Sans" pitchFamily="34" charset="-120"/>
              </a:rPr>
              <a:t>947 responses generated</a:t>
            </a:r>
            <a:endParaRPr lang="en-US" sz="1300" dirty="0"/>
          </a:p>
        </p:txBody>
      </p:sp>
      <p:pic>
        <p:nvPicPr>
          <p:cNvPr id="6" name="Image 0" descr="arrow-right">    </p:cNvPr>
          <p:cNvPicPr>
            <a:picLocks noChangeAspect="1"/>
          </p:cNvPicPr>
          <p:nvPr/>
        </p:nvPicPr>
        <p:blipFill>
          <a:blip r:embed="rId1"/>
          <a:srcRect l="0" r="0" t="0" b="0"/>
          <a:stretch/>
        </p:blipFill>
        <p:spPr>
          <a:xfrm>
            <a:off x="4241800" y="2127796"/>
            <a:ext cx="254000" cy="127000"/>
          </a:xfrm>
          <a:prstGeom prst="rect">
            <a:avLst/>
          </a:prstGeom>
        </p:spPr>
      </p:pic>
      <p:sp>
        <p:nvSpPr>
          <p:cNvPr id="7" name="Text 4"/>
          <p:cNvSpPr/>
          <p:nvPr/>
        </p:nvSpPr>
        <p:spPr>
          <a:xfrm>
            <a:off x="4603750" y="1860500"/>
            <a:ext cx="1943100" cy="661591"/>
          </a:xfrm>
          <a:prstGeom prst="roundRect">
            <a:avLst>
              <a:gd name="adj" fmla="val 10558"/>
            </a:avLst>
          </a:prstGeom>
          <a:noFill/>
          <a:ln w="12700">
            <a:solidFill>
              <a:srgbClr val="F2A65A"/>
            </a:solidFill>
            <a:prstDash val="dash"/>
          </a:ln>
        </p:spPr>
        <p:txBody>
          <a:bodyPr wrap="square" lIns="112892" tIns="87492" rIns="62092" bIns="62092" rtlCol="0" anchor="t">
            <a:normAutofit/>
          </a:bodyPr>
          <a:lstStyle/>
          <a:p>
            <a:pPr algn="l" indent="0" marL="0">
              <a:lnSpc>
                <a:spcPts val="1755"/>
              </a:lnSpc>
              <a:buNone/>
            </a:pPr>
            <a:r>
              <a:rPr lang="en-US" sz="1300" dirty="0">
                <a:solidFill>
                  <a:srgbClr val="F6F7F4"/>
                </a:solidFill>
                <a:latin typeface="IBM Plex Sans" pitchFamily="34" charset="0"/>
                <a:ea typeface="IBM Plex Sans" pitchFamily="34" charset="-122"/>
                <a:cs typeface="IBM Plex Sans" pitchFamily="34" charset="-120"/>
              </a:rPr>
              <a:t>32.1 MB sent inline as file_content</a:t>
            </a:r>
            <a:endParaRPr lang="en-US" sz="1300" dirty="0"/>
          </a:p>
        </p:txBody>
      </p:sp>
      <p:pic>
        <p:nvPicPr>
          <p:cNvPr id="8" name="Image 1" descr="arrow-right">    </p:cNvPr>
          <p:cNvPicPr>
            <a:picLocks noChangeAspect="1"/>
          </p:cNvPicPr>
          <p:nvPr/>
        </p:nvPicPr>
        <p:blipFill>
          <a:blip r:embed="rId2"/>
          <a:srcRect l="0" r="0" t="0" b="0"/>
          <a:stretch/>
        </p:blipFill>
        <p:spPr>
          <a:xfrm>
            <a:off x="6654800" y="2127796"/>
            <a:ext cx="254000" cy="127000"/>
          </a:xfrm>
          <a:prstGeom prst="rect">
            <a:avLst/>
          </a:prstGeom>
        </p:spPr>
      </p:pic>
      <p:sp>
        <p:nvSpPr>
          <p:cNvPr id="9" name="Text 5"/>
          <p:cNvSpPr/>
          <p:nvPr/>
        </p:nvSpPr>
        <p:spPr>
          <a:xfrm>
            <a:off x="7016750" y="1860500"/>
            <a:ext cx="1943100" cy="661591"/>
          </a:xfrm>
          <a:prstGeom prst="roundRect">
            <a:avLst>
              <a:gd name="adj" fmla="val 10558"/>
            </a:avLst>
          </a:prstGeom>
          <a:noFill/>
          <a:ln w="12700">
            <a:solidFill>
              <a:srgbClr val="F2A65A"/>
            </a:solidFill>
            <a:prstDash val="dash"/>
          </a:ln>
        </p:spPr>
        <p:txBody>
          <a:bodyPr wrap="square" lIns="112892" tIns="87492" rIns="62092" bIns="62092" rtlCol="0" anchor="t">
            <a:normAutofit/>
          </a:bodyPr>
          <a:lstStyle/>
          <a:p>
            <a:pPr algn="l" indent="0" marL="0">
              <a:lnSpc>
                <a:spcPts val="1755"/>
              </a:lnSpc>
              <a:buNone/>
            </a:pPr>
            <a:r>
              <a:rPr lang="en-US" sz="1300" dirty="0">
                <a:solidFill>
                  <a:srgbClr val="F6F7F4"/>
                </a:solidFill>
                <a:latin typeface="IBM Plex Sans" pitchFamily="34" charset="0"/>
                <a:ea typeface="IBM Plex Sans" pitchFamily="34" charset="-122"/>
                <a:cs typeface="IBM Plex Sans" pitchFamily="34" charset="-120"/>
              </a:rPr>
              <a:t>VNet endpoint cap: 2,097,152 bytes</a:t>
            </a:r>
            <a:endParaRPr lang="en-US" sz="1300" dirty="0"/>
          </a:p>
        </p:txBody>
      </p:sp>
      <p:pic>
        <p:nvPicPr>
          <p:cNvPr id="10" name="Image 2" descr="arrow-right">    </p:cNvPr>
          <p:cNvPicPr>
            <a:picLocks noChangeAspect="1"/>
          </p:cNvPicPr>
          <p:nvPr/>
        </p:nvPicPr>
        <p:blipFill>
          <a:blip r:embed="rId3"/>
          <a:srcRect l="0" r="0" t="0" b="0"/>
          <a:stretch/>
        </p:blipFill>
        <p:spPr>
          <a:xfrm>
            <a:off x="9067800" y="2127796"/>
            <a:ext cx="254000" cy="127000"/>
          </a:xfrm>
          <a:prstGeom prst="rect">
            <a:avLst/>
          </a:prstGeom>
        </p:spPr>
      </p:pic>
      <p:sp>
        <p:nvSpPr>
          <p:cNvPr id="11" name="Text 6"/>
          <p:cNvSpPr/>
          <p:nvPr/>
        </p:nvSpPr>
        <p:spPr>
          <a:xfrm>
            <a:off x="9429750" y="1860500"/>
            <a:ext cx="1943100" cy="661591"/>
          </a:xfrm>
          <a:prstGeom prst="roundRect">
            <a:avLst>
              <a:gd name="adj" fmla="val 10558"/>
            </a:avLst>
          </a:prstGeom>
          <a:noFill/>
          <a:ln w="12700">
            <a:solidFill>
              <a:srgbClr val="F2A65A"/>
            </a:solidFill>
            <a:prstDash val="dash"/>
          </a:ln>
        </p:spPr>
        <p:txBody>
          <a:bodyPr wrap="square" lIns="112892" tIns="87492" rIns="62092" bIns="62092" rtlCol="0" anchor="t">
            <a:normAutofit/>
          </a:bodyPr>
          <a:lstStyle/>
          <a:p>
            <a:pPr algn="l" indent="0" marL="0">
              <a:lnSpc>
                <a:spcPts val="1755"/>
              </a:lnSpc>
              <a:buNone/>
            </a:pPr>
            <a:r>
              <a:rPr lang="en-US" sz="1300" dirty="0">
                <a:solidFill>
                  <a:srgbClr val="F6F7F4"/>
                </a:solidFill>
                <a:latin typeface="IBM Plex Sans" pitchFamily="34" charset="0"/>
                <a:ea typeface="IBM Plex Sans" pitchFamily="34" charset="-122"/>
                <a:cs typeface="IBM Plex Sans" pitchFamily="34" charset="-120"/>
              </a:rPr>
              <a:t>Run creation failed — no metrics ran</a:t>
            </a:r>
            <a:endParaRPr lang="en-US" sz="1300" dirty="0"/>
          </a:p>
        </p:txBody>
      </p:sp>
      <p:sp>
        <p:nvSpPr>
          <p:cNvPr id="12" name="Text 7"/>
          <p:cNvSpPr/>
          <p:nvPr/>
        </p:nvSpPr>
        <p:spPr>
          <a:xfrm>
            <a:off x="812800" y="2800796"/>
            <a:ext cx="1270000" cy="434330"/>
          </a:xfrm>
          <a:prstGeom prst="roundRect">
            <a:avLst>
              <a:gd name="adj" fmla="val 17544"/>
            </a:avLst>
          </a:prstGeom>
          <a:solidFill>
            <a:srgbClr val="7FA6FF"/>
          </a:solidFill>
          <a:ln/>
        </p:spPr>
        <p:txBody>
          <a:bodyPr wrap="square" lIns="79282" tIns="79282" rIns="79282" bIns="53882" rtlCol="0" anchor="t">
            <a:normAutofit/>
          </a:bodyPr>
          <a:lstStyle/>
          <a:p>
            <a:pPr algn="ctr" indent="0" marL="0">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PASS</a:t>
            </a:r>
            <a:endParaRPr lang="en-US" sz="1300" dirty="0"/>
          </a:p>
        </p:txBody>
      </p:sp>
      <p:sp>
        <p:nvSpPr>
          <p:cNvPr id="13" name="Text 8"/>
          <p:cNvSpPr/>
          <p:nvPr/>
        </p:nvSpPr>
        <p:spPr>
          <a:xfrm>
            <a:off x="2190750" y="2687191"/>
            <a:ext cx="1943100" cy="661591"/>
          </a:xfrm>
          <a:prstGeom prst="roundRect">
            <a:avLst>
              <a:gd name="adj" fmla="val 10558"/>
            </a:avLst>
          </a:prstGeom>
          <a:noFill/>
          <a:ln w="12700">
            <a:solidFill>
              <a:srgbClr val="7FA6FF"/>
            </a:solidFill>
            <a:prstDash val="solid"/>
          </a:ln>
        </p:spPr>
        <p:txBody>
          <a:bodyPr wrap="square" lIns="112892" tIns="87492" rIns="62092" bIns="62092" rtlCol="0" anchor="t">
            <a:normAutofit/>
          </a:bodyPr>
          <a:lstStyle/>
          <a:p>
            <a:pPr algn="l" indent="0" marL="0">
              <a:lnSpc>
                <a:spcPts val="1755"/>
              </a:lnSpc>
              <a:buNone/>
            </a:pPr>
            <a:r>
              <a:rPr lang="en-US" sz="1300" dirty="0">
                <a:solidFill>
                  <a:srgbClr val="F6F7F4"/>
                </a:solidFill>
                <a:latin typeface="IBM Plex Sans" pitchFamily="34" charset="0"/>
                <a:ea typeface="IBM Plex Sans" pitchFamily="34" charset="-122"/>
                <a:cs typeface="IBM Plex Sans" pitchFamily="34" charset="-120"/>
              </a:rPr>
              <a:t>947 items written to JSONL</a:t>
            </a:r>
            <a:endParaRPr lang="en-US" sz="1300" dirty="0"/>
          </a:p>
        </p:txBody>
      </p:sp>
      <p:pic>
        <p:nvPicPr>
          <p:cNvPr id="14" name="Image 3" descr="arrow-right">    </p:cNvPr>
          <p:cNvPicPr>
            <a:picLocks noChangeAspect="1"/>
          </p:cNvPicPr>
          <p:nvPr/>
        </p:nvPicPr>
        <p:blipFill>
          <a:blip r:embed="rId4"/>
          <a:srcRect l="0" r="0" t="0" b="0"/>
          <a:stretch/>
        </p:blipFill>
        <p:spPr>
          <a:xfrm>
            <a:off x="4241800" y="2954486"/>
            <a:ext cx="254000" cy="127000"/>
          </a:xfrm>
          <a:prstGeom prst="rect">
            <a:avLst/>
          </a:prstGeom>
        </p:spPr>
      </p:pic>
      <p:sp>
        <p:nvSpPr>
          <p:cNvPr id="15" name="Text 9"/>
          <p:cNvSpPr/>
          <p:nvPr/>
        </p:nvSpPr>
        <p:spPr>
          <a:xfrm>
            <a:off x="4603750" y="2687191"/>
            <a:ext cx="1943100" cy="661591"/>
          </a:xfrm>
          <a:prstGeom prst="roundRect">
            <a:avLst>
              <a:gd name="adj" fmla="val 10558"/>
            </a:avLst>
          </a:prstGeom>
          <a:noFill/>
          <a:ln w="12700">
            <a:solidFill>
              <a:srgbClr val="7FA6FF"/>
            </a:solidFill>
            <a:prstDash val="solid"/>
          </a:ln>
        </p:spPr>
        <p:txBody>
          <a:bodyPr wrap="square" lIns="112892" tIns="87492" rIns="62092" bIns="62092" rtlCol="0" anchor="t">
            <a:normAutofit/>
          </a:bodyPr>
          <a:lstStyle/>
          <a:p>
            <a:pPr algn="l" indent="0" marL="0">
              <a:lnSpc>
                <a:spcPts val="1755"/>
              </a:lnSpc>
              <a:buNone/>
            </a:pPr>
            <a:r>
              <a:rPr lang="en-US" sz="1300" dirty="0">
                <a:solidFill>
                  <a:srgbClr val="F6F7F4"/>
                </a:solidFill>
                <a:latin typeface="IBM Plex Sans" pitchFamily="34" charset="0"/>
                <a:ea typeface="IBM Plex Sans" pitchFamily="34" charset="-122"/>
                <a:cs typeface="IBM Plex Sans" pitchFamily="34" charset="-120"/>
              </a:rPr>
              <a:t>Uploaded as a Foundry dataset</a:t>
            </a:r>
            <a:endParaRPr lang="en-US" sz="1300" dirty="0"/>
          </a:p>
        </p:txBody>
      </p:sp>
      <p:pic>
        <p:nvPicPr>
          <p:cNvPr id="16" name="Image 4" descr="arrow-right">    </p:cNvPr>
          <p:cNvPicPr>
            <a:picLocks noChangeAspect="1"/>
          </p:cNvPicPr>
          <p:nvPr/>
        </p:nvPicPr>
        <p:blipFill>
          <a:blip r:embed="rId5"/>
          <a:srcRect l="0" r="0" t="0" b="0"/>
          <a:stretch/>
        </p:blipFill>
        <p:spPr>
          <a:xfrm>
            <a:off x="6654800" y="2954486"/>
            <a:ext cx="254000" cy="127000"/>
          </a:xfrm>
          <a:prstGeom prst="rect">
            <a:avLst/>
          </a:prstGeom>
        </p:spPr>
      </p:pic>
      <p:sp>
        <p:nvSpPr>
          <p:cNvPr id="17" name="Text 10"/>
          <p:cNvSpPr/>
          <p:nvPr/>
        </p:nvSpPr>
        <p:spPr>
          <a:xfrm>
            <a:off x="7016750" y="2798614"/>
            <a:ext cx="1943100" cy="438745"/>
          </a:xfrm>
          <a:prstGeom prst="roundRect">
            <a:avLst>
              <a:gd name="adj" fmla="val 15920"/>
            </a:avLst>
          </a:prstGeom>
          <a:noFill/>
          <a:ln w="12700">
            <a:solidFill>
              <a:srgbClr val="7FA6FF"/>
            </a:solidFill>
            <a:prstDash val="solid"/>
          </a:ln>
        </p:spPr>
        <p:txBody>
          <a:bodyPr wrap="square" lIns="112892" tIns="87492" rIns="62092" bIns="62092" rtlCol="0" anchor="t">
            <a:normAutofit/>
          </a:bodyPr>
          <a:lstStyle/>
          <a:p>
            <a:pPr algn="l" indent="0" marL="0">
              <a:lnSpc>
                <a:spcPts val="1755"/>
              </a:lnSpc>
              <a:buNone/>
            </a:pPr>
            <a:r>
              <a:rPr lang="en-US" sz="1300" dirty="0">
                <a:solidFill>
                  <a:srgbClr val="F6F7F4"/>
                </a:solidFill>
                <a:latin typeface="IBM Plex Sans" pitchFamily="34" charset="0"/>
                <a:ea typeface="IBM Plex Sans" pitchFamily="34" charset="-122"/>
                <a:cs typeface="IBM Plex Sans" pitchFamily="34" charset="-120"/>
              </a:rPr>
              <a:t>Dataset ID returned</a:t>
            </a:r>
            <a:endParaRPr lang="en-US" sz="1300" dirty="0"/>
          </a:p>
        </p:txBody>
      </p:sp>
      <p:pic>
        <p:nvPicPr>
          <p:cNvPr id="18" name="Image 5" descr="arrow-right">    </p:cNvPr>
          <p:cNvPicPr>
            <a:picLocks noChangeAspect="1"/>
          </p:cNvPicPr>
          <p:nvPr/>
        </p:nvPicPr>
        <p:blipFill>
          <a:blip r:embed="rId6"/>
          <a:srcRect l="0" r="0" t="0" b="0"/>
          <a:stretch/>
        </p:blipFill>
        <p:spPr>
          <a:xfrm>
            <a:off x="9067800" y="2954486"/>
            <a:ext cx="254000" cy="127000"/>
          </a:xfrm>
          <a:prstGeom prst="rect">
            <a:avLst/>
          </a:prstGeom>
        </p:spPr>
      </p:pic>
      <p:sp>
        <p:nvSpPr>
          <p:cNvPr id="19" name="Text 11"/>
          <p:cNvSpPr/>
          <p:nvPr/>
        </p:nvSpPr>
        <p:spPr>
          <a:xfrm>
            <a:off x="9429750" y="2687191"/>
            <a:ext cx="1943100" cy="661591"/>
          </a:xfrm>
          <a:prstGeom prst="roundRect">
            <a:avLst>
              <a:gd name="adj" fmla="val 10558"/>
            </a:avLst>
          </a:prstGeom>
          <a:noFill/>
          <a:ln w="12700">
            <a:solidFill>
              <a:srgbClr val="7FA6FF"/>
            </a:solidFill>
            <a:prstDash val="solid"/>
          </a:ln>
        </p:spPr>
        <p:txBody>
          <a:bodyPr wrap="square" lIns="112892" tIns="87492" rIns="62092" bIns="62092" rtlCol="0" anchor="t">
            <a:normAutofit/>
          </a:bodyPr>
          <a:lstStyle/>
          <a:p>
            <a:pPr algn="l" indent="0" marL="0">
              <a:lnSpc>
                <a:spcPts val="1755"/>
              </a:lnSpc>
              <a:buNone/>
            </a:pPr>
            <a:r>
              <a:rPr lang="en-US" sz="1300" dirty="0">
                <a:solidFill>
                  <a:srgbClr val="F6F7F4"/>
                </a:solidFill>
                <a:latin typeface="IBM Plex Sans" pitchFamily="34" charset="0"/>
                <a:ea typeface="IBM Plex Sans" pitchFamily="34" charset="-122"/>
                <a:cs typeface="IBM Plex Sans" pitchFamily="34" charset="-120"/>
              </a:rPr>
              <a:t>Run created with file_id</a:t>
            </a:r>
            <a:endParaRPr lang="en-US" sz="1300" dirty="0"/>
          </a:p>
        </p:txBody>
      </p:sp>
      <p:sp>
        <p:nvSpPr>
          <p:cNvPr id="20" name="Text 12"/>
          <p:cNvSpPr/>
          <p:nvPr/>
        </p:nvSpPr>
        <p:spPr>
          <a:xfrm>
            <a:off x="812800" y="3634532"/>
            <a:ext cx="345338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Root cause</a:t>
            </a:r>
            <a:endParaRPr lang="en-US" sz="1400" dirty="0"/>
          </a:p>
        </p:txBody>
      </p:sp>
      <p:sp>
        <p:nvSpPr>
          <p:cNvPr id="21" name="Text 13"/>
          <p:cNvSpPr/>
          <p:nvPr/>
        </p:nvSpPr>
        <p:spPr>
          <a:xfrm>
            <a:off x="812800" y="3898652"/>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The submission method — not the metrics or the generated answers</a:t>
            </a:r>
            <a:endParaRPr lang="en-US" sz="1200" dirty="0"/>
          </a:p>
        </p:txBody>
      </p:sp>
      <p:sp>
        <p:nvSpPr>
          <p:cNvPr id="22" name="Text 14"/>
          <p:cNvSpPr/>
          <p:nvPr/>
        </p:nvSpPr>
        <p:spPr>
          <a:xfrm>
            <a:off x="4419600" y="3634532"/>
            <a:ext cx="345338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Fix</a:t>
            </a:r>
            <a:endParaRPr lang="en-US" sz="1400" dirty="0"/>
          </a:p>
        </p:txBody>
      </p:sp>
      <p:sp>
        <p:nvSpPr>
          <p:cNvPr id="23" name="Text 15"/>
          <p:cNvSpPr/>
          <p:nvPr/>
        </p:nvSpPr>
        <p:spPr>
          <a:xfrm>
            <a:off x="4419600" y="3898652"/>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Microsoft’s recommended path: a versioned JSONL dataset, referenced by id</a:t>
            </a:r>
            <a:endParaRPr lang="en-US" sz="1200" dirty="0"/>
          </a:p>
        </p:txBody>
      </p:sp>
      <p:sp>
        <p:nvSpPr>
          <p:cNvPr id="24" name="Text 16"/>
          <p:cNvSpPr/>
          <p:nvPr/>
        </p:nvSpPr>
        <p:spPr>
          <a:xfrm>
            <a:off x="8026400" y="3634532"/>
            <a:ext cx="345338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Unchanged</a:t>
            </a:r>
            <a:endParaRPr lang="en-US" sz="1400" dirty="0"/>
          </a:p>
        </p:txBody>
      </p:sp>
      <p:sp>
        <p:nvSpPr>
          <p:cNvPr id="25" name="Text 17"/>
          <p:cNvSpPr/>
          <p:nvPr/>
        </p:nvSpPr>
        <p:spPr>
          <a:xfrm>
            <a:off x="8026400" y="3898652"/>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Metrics, scoring, result mapping, hard gates and workbook format</a:t>
            </a:r>
            <a:endParaRPr lang="en-US" sz="1200" dirty="0"/>
          </a:p>
        </p:txBody>
      </p:sp>
      <p:sp>
        <p:nvSpPr>
          <p:cNvPr id="26"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B8"/>
                </a:solidFill>
                <a:latin typeface="IBM Plex Sans" pitchFamily="34" charset="0"/>
                <a:ea typeface="IBM Plex Sans" pitchFamily="34" charset="-122"/>
                <a:cs typeface="IBM Plex Sans" pitchFamily="34" charset="-120"/>
              </a:rPr>
              <a:t>Microsoft Foundry agent evaluation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363651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07 · BATCH PIPELINE</a:t>
            </a:r>
            <a:endParaRPr lang="en-US" sz="1200" dirty="0"/>
          </a:p>
        </p:txBody>
      </p:sp>
      <p:sp>
        <p:nvSpPr>
          <p:cNvPr id="3" name="Text 1"/>
          <p:cNvSpPr/>
          <p:nvPr>
            <p:ph type="title"/>
          </p:nvPr>
        </p:nvSpPr>
        <p:spPr>
          <a:xfrm>
            <a:off x="812800" y="1127720"/>
            <a:ext cx="3636518" cy="751780"/>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4213D"/>
                </a:solidFill>
                <a:latin typeface="IBM Plex Sans" pitchFamily="34" charset="0"/>
                <a:ea typeface="IBM Plex Sans" pitchFamily="34" charset="-122"/>
                <a:cs typeface="IBM Plex Sans" pitchFamily="34" charset="-120"/>
              </a:rPr>
              <a:t>Batch, upload, run, merge</a:t>
            </a:r>
            <a:endParaRPr lang="en-US" sz="2600" dirty="0"/>
          </a:p>
        </p:txBody>
      </p:sp>
      <p:sp>
        <p:nvSpPr>
          <p:cNvPr id="4" name="Text 2"/>
          <p:cNvSpPr/>
          <p:nvPr/>
        </p:nvSpPr>
        <p:spPr>
          <a:xfrm>
            <a:off x="897880" y="2031901"/>
            <a:ext cx="3543818" cy="1731963"/>
          </a:xfrm>
          <a:prstGeom prst="rect">
            <a:avLst/>
          </a:prstGeom>
          <a:noFill/>
          <a:ln/>
        </p:spPr>
        <p:txBody>
          <a:bodyPr wrap="square" lIns="0" tIns="0" rIns="0" bIns="0" rtlCol="0" anchor="t">
            <a:normAutofit/>
          </a:bodyPr>
          <a:lstStyle/>
          <a:p>
            <a:pPr algn="l" marL="168920" indent="-168920">
              <a:lnSpc>
                <a:spcPts val="1680"/>
              </a:lnSpc>
              <a:buSzPct val="100000"/>
              <a:buFontTx/>
              <a:buAutoNum type="arabicPeriod" startAt="1"/>
            </a:pPr>
            <a:r>
              <a:rPr lang="en-US" sz="1200" dirty="0">
                <a:solidFill>
                  <a:srgbClr val="3E4A5C"/>
                </a:solidFill>
                <a:latin typeface="IBM Plex Sans" pitchFamily="34" charset="0"/>
                <a:ea typeface="IBM Plex Sans" pitchFamily="34" charset="-122"/>
                <a:cs typeface="IBM Plex Sans" pitchFamily="34" charset="-120"/>
              </a:rPr>
              <a:t>Split 947 items into 38 batches of 25 (last: 22)</a:t>
            </a:r>
            <a:endParaRPr lang="en-US" sz="1200" dirty="0"/>
          </a:p>
          <a:p>
            <a:pPr algn="l" marL="168920" indent="-168920">
              <a:lnSpc>
                <a:spcPts val="1680"/>
              </a:lnSpc>
              <a:buSzPct val="100000"/>
              <a:buFontTx/>
              <a:buAutoNum type="arabicPeriod" startAt="1"/>
            </a:pPr>
            <a:r>
              <a:rPr lang="en-US" sz="1200" dirty="0">
                <a:solidFill>
                  <a:srgbClr val="3E4A5C"/>
                </a:solidFill>
                <a:latin typeface="IBM Plex Sans" pitchFamily="34" charset="0"/>
                <a:ea typeface="IBM Plex Sans" pitchFamily="34" charset="-122"/>
                <a:cs typeface="IBM Plex Sans" pitchFamily="34" charset="-120"/>
              </a:rPr>
              <a:t>Upload one versioned JSONL dataset per batch</a:t>
            </a:r>
            <a:endParaRPr lang="en-US" sz="1200" dirty="0"/>
          </a:p>
          <a:p>
            <a:pPr algn="l" marL="168920" indent="-168920">
              <a:lnSpc>
                <a:spcPts val="1680"/>
              </a:lnSpc>
              <a:buSzPct val="100000"/>
              <a:buFontTx/>
              <a:buAutoNum type="arabicPeriod" startAt="1"/>
            </a:pPr>
            <a:r>
              <a:rPr lang="en-US" sz="1200" dirty="0">
                <a:solidFill>
                  <a:srgbClr val="3E4A5C"/>
                </a:solidFill>
                <a:latin typeface="IBM Plex Sans" pitchFamily="34" charset="0"/>
                <a:ea typeface="IBM Plex Sans" pitchFamily="34" charset="-122"/>
                <a:cs typeface="IBM Plex Sans" pitchFamily="34" charset="-120"/>
              </a:rPr>
              <a:t>Create one Foundry run per batch, by file_id</a:t>
            </a:r>
            <a:endParaRPr lang="en-US" sz="1200" dirty="0"/>
          </a:p>
          <a:p>
            <a:pPr algn="l" marL="168920" indent="-168920">
              <a:lnSpc>
                <a:spcPts val="1680"/>
              </a:lnSpc>
              <a:buSzPct val="100000"/>
              <a:buFontTx/>
              <a:buAutoNum type="arabicPeriod" startAt="1"/>
            </a:pPr>
            <a:r>
              <a:rPr lang="en-US" sz="1200" dirty="0">
                <a:solidFill>
                  <a:srgbClr val="3E4A5C"/>
                </a:solidFill>
                <a:latin typeface="IBM Plex Sans" pitchFamily="34" charset="0"/>
                <a:ea typeface="IBM Plex Sans" pitchFamily="34" charset="-122"/>
                <a:cs typeface="IBM Plex Sans" pitchFamily="34" charset="-120"/>
              </a:rPr>
              <a:t>Poll each run to a terminal status</a:t>
            </a:r>
            <a:endParaRPr lang="en-US" sz="1200" dirty="0"/>
          </a:p>
          <a:p>
            <a:pPr algn="l" marL="168920" indent="-168920">
              <a:lnSpc>
                <a:spcPts val="1680"/>
              </a:lnSpc>
              <a:buSzPct val="100000"/>
              <a:buFontTx/>
              <a:buAutoNum type="arabicPeriod" startAt="1"/>
            </a:pPr>
            <a:r>
              <a:rPr lang="en-US" sz="1200" dirty="0">
                <a:solidFill>
                  <a:srgbClr val="3E4A5C"/>
                </a:solidFill>
                <a:latin typeface="IBM Plex Sans" pitchFamily="34" charset="0"/>
                <a:ea typeface="IBM Plex Sans" pitchFamily="34" charset="-122"/>
                <a:cs typeface="IBM Plex Sans" pitchFamily="34" charset="-120"/>
              </a:rPr>
              <a:t>Download each batch’s output items</a:t>
            </a:r>
            <a:endParaRPr lang="en-US" sz="1200" dirty="0"/>
          </a:p>
          <a:p>
            <a:pPr algn="l" marL="168920" indent="-168920">
              <a:lnSpc>
                <a:spcPts val="1680"/>
              </a:lnSpc>
              <a:buSzPct val="100000"/>
              <a:buFontTx/>
              <a:buAutoNum type="arabicPeriod" startAt="1"/>
            </a:pPr>
            <a:r>
              <a:rPr lang="en-US" sz="1200" dirty="0">
                <a:solidFill>
                  <a:srgbClr val="3E4A5C"/>
                </a:solidFill>
                <a:latin typeface="IBM Plex Sans" pitchFamily="34" charset="0"/>
                <a:ea typeface="IBM Plex Sans" pitchFamily="34" charset="-122"/>
                <a:cs typeface="IBM Plex Sans" pitchFamily="34" charset="-120"/>
              </a:rPr>
              <a:t>Merge all output items by case_id</a:t>
            </a:r>
            <a:endParaRPr lang="en-US" sz="1200" dirty="0"/>
          </a:p>
          <a:p>
            <a:pPr algn="l" marL="168920" indent="-168920">
              <a:lnSpc>
                <a:spcPts val="1680"/>
              </a:lnSpc>
              <a:buSzPct val="100000"/>
              <a:buFontTx/>
              <a:buAutoNum type="arabicPeriod" startAt="1"/>
            </a:pPr>
            <a:r>
              <a:rPr lang="en-US" sz="1200" dirty="0">
                <a:solidFill>
                  <a:srgbClr val="3E4A5C"/>
                </a:solidFill>
                <a:latin typeface="IBM Plex Sans" pitchFamily="34" charset="0"/>
                <a:ea typeface="IBM Plex Sans" pitchFamily="34" charset="-122"/>
                <a:cs typeface="IBM Plex Sans" pitchFamily="34" charset="-120"/>
              </a:rPr>
              <a:t>Existing metric mapping → MNG rubric → hard gates → JSON &amp; Excel reports</a:t>
            </a:r>
            <a:endParaRPr lang="en-US" sz="1200" dirty="0"/>
          </a:p>
        </p:txBody>
      </p:sp>
      <p:sp>
        <p:nvSpPr>
          <p:cNvPr id="5" name="Text 3"/>
          <p:cNvSpPr/>
          <p:nvPr/>
        </p:nvSpPr>
        <p:spPr>
          <a:xfrm>
            <a:off x="4648200" y="812800"/>
            <a:ext cx="6731000" cy="4246166"/>
          </a:xfrm>
          <a:prstGeom prst="roundRect">
            <a:avLst>
              <a:gd name="adj" fmla="val 2393"/>
            </a:avLst>
          </a:prstGeom>
          <a:solidFill>
            <a:srgbClr val="14213D"/>
          </a:solidFill>
          <a:ln/>
        </p:spPr>
        <p:txBody>
          <a:bodyPr wrap="square" lIns="173442" tIns="173442" rIns="0" bIns="148042" rtlCol="0" anchor="t">
            <a:normAutofit/>
          </a:bodyPr>
          <a:lstStyle/>
          <a:p>
            <a:pPr algn="l" indent="0" marL="0">
              <a:lnSpc>
                <a:spcPts val="1680"/>
              </a:lnSpc>
              <a:buNone/>
            </a:pPr>
            <a:r>
              <a:rPr lang="en-US" sz="1200" dirty="0">
                <a:solidFill>
                  <a:srgbClr val="8FA0B8"/>
                </a:solidFill>
                <a:latin typeface="JetBrains Mono" pitchFamily="49" charset="0"/>
                <a:ea typeface="JetBrains Mono" pitchFamily="49" charset="-122"/>
                <a:cs typeface="JetBrains Mono" pitchFamily="49" charset="-120"/>
              </a:rPr>
              <a:t># .env</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FOUNDRY_DATASET_NAME=rag-eval-dataset</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FOUNDRY_DATASET_VERSION=  </a:t>
            </a:r>
            <a:r>
              <a:rPr lang="en-US" sz="1200" dirty="0">
                <a:solidFill>
                  <a:srgbClr val="8FA0B8"/>
                </a:solidFill>
                <a:latin typeface="JetBrains Mono" pitchFamily="49" charset="0"/>
                <a:ea typeface="JetBrains Mono" pitchFamily="49" charset="-122"/>
                <a:cs typeface="JetBrains Mono" pitchFamily="49" charset="-120"/>
              </a:rPr>
              <a:t># blank → unique per run</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BATCH = 25</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for i in range(0, len(items), BATCH):</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path = write_jsonl(items[i:i + BATCH])  </a:t>
            </a:r>
            <a:r>
              <a:rPr lang="en-US" sz="1200" dirty="0">
                <a:solidFill>
                  <a:srgbClr val="8FA0B8"/>
                </a:solidFill>
                <a:latin typeface="JetBrains Mono" pitchFamily="49" charset="0"/>
                <a:ea typeface="JetBrains Mono" pitchFamily="49" charset="-122"/>
                <a:cs typeface="JetBrains Mono" pitchFamily="49" charset="-120"/>
              </a:rPr>
              <a:t># temp file</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ds = project_client.datasets.upload_file(</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name=DATASET_NAME, version=f"{tag}-{i // BATCH + 1}",</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file_path=path)</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run = client.evals.runs.create(</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eval_id=evaluation.id,</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data_source=CreateEvalJSONLRunDataSourceParam(</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type="jsonl",</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source={"type": "file_id", "id": ds.id}))</a:t>
            </a: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    run_ids.append(run.id)</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BF2"/>
                </a:solidFill>
                <a:latin typeface="JetBrains Mono" pitchFamily="49" charset="0"/>
                <a:ea typeface="JetBrains Mono" pitchFamily="49" charset="-122"/>
                <a:cs typeface="JetBrains Mono" pitchFamily="49" charset="-120"/>
              </a:rPr>
              <a:t>results = merge_by_case_id(fetch_output_items(run_ids))</a:t>
            </a:r>
            <a:endParaRPr lang="en-US" sz="12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8C8"/>
                </a:solidFill>
                <a:latin typeface="IBM Plex Sans" pitchFamily="34" charset="0"/>
                <a:ea typeface="IBM Plex Sans" pitchFamily="34" charset="-122"/>
                <a:cs typeface="IBM Plex Sans" pitchFamily="34" charset="-120"/>
              </a:rPr>
              <a:t>08 · RESULTS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Reading results and closing the loop</a:t>
            </a:r>
            <a:endParaRPr lang="en-US" sz="3200" dirty="0"/>
          </a:p>
        </p:txBody>
      </p:sp>
      <p:sp>
        <p:nvSpPr>
          <p:cNvPr id="4" name="Shape 2"/>
          <p:cNvSpPr/>
          <p:nvPr/>
        </p:nvSpPr>
        <p:spPr>
          <a:xfrm>
            <a:off x="815975" y="1857325"/>
            <a:ext cx="3384550" cy="1520130"/>
          </a:xfrm>
          <a:prstGeom prst="roundRect">
            <a:avLst>
              <a:gd name="adj" fmla="val 6475"/>
            </a:avLst>
          </a:prstGeom>
          <a:solidFill>
            <a:srgbClr val="FCFCFA"/>
          </a:solidFill>
          <a:ln w="6350">
            <a:solidFill>
              <a:srgbClr val="D6DCE4"/>
            </a:solidFill>
            <a:prstDash val="solid"/>
          </a:ln>
        </p:spPr>
      </p:sp>
      <p:sp>
        <p:nvSpPr>
          <p:cNvPr id="5" name="Text 3"/>
          <p:cNvSpPr/>
          <p:nvPr/>
        </p:nvSpPr>
        <p:spPr>
          <a:xfrm>
            <a:off x="1047750" y="2089100"/>
            <a:ext cx="300863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Run level</a:t>
            </a:r>
            <a:endParaRPr lang="en-US" sz="1800" dirty="0"/>
          </a:p>
        </p:txBody>
      </p:sp>
      <p:sp>
        <p:nvSpPr>
          <p:cNvPr id="6" name="Text 4"/>
          <p:cNvSpPr/>
          <p:nvPr/>
        </p:nvSpPr>
        <p:spPr>
          <a:xfrm>
            <a:off x="1047750" y="2452291"/>
            <a:ext cx="300863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Total, passed, failed and errored counts; pass/fail per evaluator; token usage per model.</a:t>
            </a:r>
            <a:endParaRPr lang="en-US" sz="1300" dirty="0"/>
          </a:p>
        </p:txBody>
      </p:sp>
      <p:sp>
        <p:nvSpPr>
          <p:cNvPr id="7" name="Shape 5"/>
          <p:cNvSpPr/>
          <p:nvPr/>
        </p:nvSpPr>
        <p:spPr>
          <a:xfrm>
            <a:off x="4410075" y="1857325"/>
            <a:ext cx="3384550" cy="1520130"/>
          </a:xfrm>
          <a:prstGeom prst="roundRect">
            <a:avLst>
              <a:gd name="adj" fmla="val 6475"/>
            </a:avLst>
          </a:prstGeom>
          <a:solidFill>
            <a:srgbClr val="FCFCFA"/>
          </a:solidFill>
          <a:ln w="6350">
            <a:solidFill>
              <a:srgbClr val="D6DCE4"/>
            </a:solidFill>
            <a:prstDash val="solid"/>
          </a:ln>
        </p:spPr>
      </p:sp>
      <p:sp>
        <p:nvSpPr>
          <p:cNvPr id="8" name="Text 6"/>
          <p:cNvSpPr/>
          <p:nvPr/>
        </p:nvSpPr>
        <p:spPr>
          <a:xfrm>
            <a:off x="4641850" y="2089100"/>
            <a:ext cx="300863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Row level</a:t>
            </a:r>
            <a:endParaRPr lang="en-US" sz="1800" dirty="0"/>
          </a:p>
        </p:txBody>
      </p:sp>
      <p:sp>
        <p:nvSpPr>
          <p:cNvPr id="9" name="Text 7"/>
          <p:cNvSpPr/>
          <p:nvPr/>
        </p:nvSpPr>
        <p:spPr>
          <a:xfrm>
            <a:off x="4641850" y="2452291"/>
            <a:ext cx="300863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Query, response, and each evaluator’s score, label, threshold and reason — plus rubric dimension scores.</a:t>
            </a:r>
            <a:endParaRPr lang="en-US" sz="1300" dirty="0"/>
          </a:p>
        </p:txBody>
      </p:sp>
      <p:sp>
        <p:nvSpPr>
          <p:cNvPr id="10" name="Shape 8"/>
          <p:cNvSpPr/>
          <p:nvPr/>
        </p:nvSpPr>
        <p:spPr>
          <a:xfrm>
            <a:off x="8001000" y="1854150"/>
            <a:ext cx="3378200" cy="1526480"/>
          </a:xfrm>
          <a:prstGeom prst="roundRect">
            <a:avLst>
              <a:gd name="adj" fmla="val 6656"/>
            </a:avLst>
          </a:prstGeom>
          <a:solidFill>
            <a:srgbClr val="14213D"/>
          </a:solidFill>
          <a:ln/>
        </p:spPr>
      </p:sp>
      <p:sp>
        <p:nvSpPr>
          <p:cNvPr id="11" name="Text 9"/>
          <p:cNvSpPr/>
          <p:nvPr/>
        </p:nvSpPr>
        <p:spPr>
          <a:xfrm>
            <a:off x="8229600" y="2082750"/>
            <a:ext cx="300863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7F4"/>
                </a:solidFill>
                <a:latin typeface="IBM Plex Sans" pitchFamily="34" charset="0"/>
                <a:ea typeface="IBM Plex Sans" pitchFamily="34" charset="-122"/>
                <a:cs typeface="IBM Plex Sans" pitchFamily="34" charset="-120"/>
              </a:rPr>
              <a:t>Across batches</a:t>
            </a:r>
            <a:endParaRPr lang="en-US" sz="1800" dirty="0"/>
          </a:p>
        </p:txBody>
      </p:sp>
      <p:sp>
        <p:nvSpPr>
          <p:cNvPr id="12" name="Text 10"/>
          <p:cNvSpPr/>
          <p:nvPr/>
        </p:nvSpPr>
        <p:spPr>
          <a:xfrm>
            <a:off x="8229600" y="2445941"/>
            <a:ext cx="300863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Pull output items from every batch run, recompute the weighted composite, report one score per agent version.</a:t>
            </a:r>
            <a:endParaRPr lang="en-US" sz="1300" dirty="0"/>
          </a:p>
        </p:txBody>
      </p:sp>
      <p:sp>
        <p:nvSpPr>
          <p:cNvPr id="13" name="Text 11"/>
          <p:cNvSpPr/>
          <p:nvPr/>
        </p:nvSpPr>
        <p:spPr>
          <a:xfrm>
            <a:off x="812800" y="3660031"/>
            <a:ext cx="2306935" cy="408930"/>
          </a:xfrm>
          <a:prstGeom prst="roundRect">
            <a:avLst>
              <a:gd name="adj" fmla="val 50000"/>
            </a:avLst>
          </a:prstGeom>
          <a:solidFill>
            <a:srgbClr val="E9EDF2"/>
          </a:solidFill>
          <a:ln/>
        </p:spPr>
        <p:txBody>
          <a:bodyPr wrap="none" lIns="0" tIns="0" rIns="0" bIns="0" rtlCol="0" anchor="ctr">
            <a:normAutofit/>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Compare runs side by side</a:t>
            </a:r>
            <a:endParaRPr lang="en-US" sz="1300" dirty="0"/>
          </a:p>
        </p:txBody>
      </p:sp>
      <p:sp>
        <p:nvSpPr>
          <p:cNvPr id="14" name="Text 12"/>
          <p:cNvSpPr/>
          <p:nvPr/>
        </p:nvSpPr>
        <p:spPr>
          <a:xfrm>
            <a:off x="3246735" y="3660031"/>
            <a:ext cx="2337296" cy="408930"/>
          </a:xfrm>
          <a:prstGeom prst="roundRect">
            <a:avLst>
              <a:gd name="adj" fmla="val 50000"/>
            </a:avLst>
          </a:prstGeom>
          <a:solidFill>
            <a:srgbClr val="E9EDF2"/>
          </a:solidFill>
          <a:ln/>
        </p:spPr>
        <p:txBody>
          <a:bodyPr wrap="none" lIns="0" tIns="0" rIns="0" bIns="0" rtlCol="0" anchor="ctr">
            <a:normAutofit/>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Cluster analysis on failures</a:t>
            </a:r>
            <a:endParaRPr lang="en-US" sz="1300" dirty="0"/>
          </a:p>
        </p:txBody>
      </p:sp>
      <p:sp>
        <p:nvSpPr>
          <p:cNvPr id="15" name="Text 13"/>
          <p:cNvSpPr/>
          <p:nvPr/>
        </p:nvSpPr>
        <p:spPr>
          <a:xfrm>
            <a:off x="5711031" y="3660031"/>
            <a:ext cx="1898303" cy="408930"/>
          </a:xfrm>
          <a:prstGeom prst="roundRect">
            <a:avLst>
              <a:gd name="adj" fmla="val 50000"/>
            </a:avLst>
          </a:prstGeom>
          <a:solidFill>
            <a:srgbClr val="E9EDF2"/>
          </a:solidFill>
          <a:ln/>
        </p:spPr>
        <p:txBody>
          <a:bodyPr wrap="none" lIns="0" tIns="0" rIns="0" bIns="0" rtlCol="0" anchor="ctr">
            <a:normAutofit/>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Quality gate in CI/CD</a:t>
            </a:r>
            <a:endParaRPr lang="en-US" sz="1300" dirty="0"/>
          </a:p>
        </p:txBody>
      </p:sp>
      <p:sp>
        <p:nvSpPr>
          <p:cNvPr id="16" name="Text 14"/>
          <p:cNvSpPr/>
          <p:nvPr/>
        </p:nvSpPr>
        <p:spPr>
          <a:xfrm>
            <a:off x="7736334" y="3660031"/>
            <a:ext cx="2557909" cy="408930"/>
          </a:xfrm>
          <a:prstGeom prst="roundRect">
            <a:avLst>
              <a:gd name="adj" fmla="val 50000"/>
            </a:avLst>
          </a:prstGeom>
          <a:solidFill>
            <a:srgbClr val="E9EDF2"/>
          </a:solidFill>
          <a:ln/>
        </p:spPr>
        <p:txBody>
          <a:bodyPr wrap="none" lIns="0" tIns="0" rIns="0" bIns="0" rtlCol="0" anchor="ctr">
            <a:normAutofit/>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Continuous eval in production</a:t>
            </a:r>
            <a:endParaRPr lang="en-US" sz="13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Microsoft Foundry agent evaluation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IBM Plex Sans" pitchFamily="34" charset="0"/>
                <a:ea typeface="IBM Plex Sans" pitchFamily="34" charset="-122"/>
                <a:cs typeface="IBM Plex Sans" pitchFamily="34" charset="-120"/>
              </a:rPr>
              <a:t>TAKEAWAYS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7F4"/>
                </a:solidFill>
                <a:latin typeface="IBM Plex Sans" pitchFamily="34" charset="0"/>
                <a:ea typeface="IBM Plex Sans" pitchFamily="34" charset="-122"/>
                <a:cs typeface="IBM Plex Sans" pitchFamily="34" charset="-120"/>
              </a:rPr>
              <a:t>What to remember</a:t>
            </a:r>
            <a:endParaRPr lang="en-US" sz="3200" dirty="0"/>
          </a:p>
        </p:txBody>
      </p:sp>
      <p:sp>
        <p:nvSpPr>
          <p:cNvPr id="4" name="Text 2"/>
          <p:cNvSpPr/>
          <p:nvPr/>
        </p:nvSpPr>
        <p:spPr>
          <a:xfrm>
            <a:off x="812800" y="1930350"/>
            <a:ext cx="12719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A65A"/>
                </a:solidFill>
                <a:latin typeface="JetBrains Mono" pitchFamily="49" charset="0"/>
                <a:ea typeface="JetBrains Mono" pitchFamily="49" charset="-122"/>
                <a:cs typeface="JetBrains Mono" pitchFamily="49" charset="-120"/>
              </a:rPr>
              <a:t>1</a:t>
            </a:r>
            <a:endParaRPr lang="en-US" sz="2000" dirty="0"/>
          </a:p>
        </p:txBody>
      </p:sp>
      <p:sp>
        <p:nvSpPr>
          <p:cNvPr id="5" name="Text 3"/>
          <p:cNvSpPr/>
          <p:nvPr/>
        </p:nvSpPr>
        <p:spPr>
          <a:xfrm>
            <a:off x="1041598" y="1930350"/>
            <a:ext cx="504906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7F4"/>
                </a:solidFill>
                <a:latin typeface="IBM Plex Sans" pitchFamily="34" charset="0"/>
                <a:ea typeface="IBM Plex Sans" pitchFamily="34" charset="-122"/>
                <a:cs typeface="IBM Plex Sans" pitchFamily="34" charset="-120"/>
              </a:rPr>
              <a:t>One evaluation surface for prompt, hosted and external agents — external ones join through OpenTelemetry traces.</a:t>
            </a:r>
            <a:endParaRPr lang="en-US" sz="1500" dirty="0"/>
          </a:p>
        </p:txBody>
      </p:sp>
      <p:sp>
        <p:nvSpPr>
          <p:cNvPr id="6" name="Text 4"/>
          <p:cNvSpPr/>
          <p:nvPr/>
        </p:nvSpPr>
        <p:spPr>
          <a:xfrm>
            <a:off x="6248400" y="1930350"/>
            <a:ext cx="16926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A65A"/>
                </a:solidFill>
                <a:latin typeface="JetBrains Mono" pitchFamily="49" charset="0"/>
                <a:ea typeface="JetBrains Mono" pitchFamily="49" charset="-122"/>
                <a:cs typeface="JetBrains Mono" pitchFamily="49" charset="-120"/>
              </a:rPr>
              <a:t>2</a:t>
            </a:r>
            <a:endParaRPr lang="en-US" sz="2000" dirty="0"/>
          </a:p>
        </p:txBody>
      </p:sp>
      <p:sp>
        <p:nvSpPr>
          <p:cNvPr id="7" name="Text 5"/>
          <p:cNvSpPr/>
          <p:nvPr/>
        </p:nvSpPr>
        <p:spPr>
          <a:xfrm>
            <a:off x="6519267" y="1930350"/>
            <a:ext cx="500573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7F4"/>
                </a:solidFill>
                <a:latin typeface="IBM Plex Sans" pitchFamily="34" charset="0"/>
                <a:ea typeface="IBM Plex Sans" pitchFamily="34" charset="-122"/>
                <a:cs typeface="IBM Plex Sans" pitchFamily="34" charset="-120"/>
              </a:rPr>
              <a:t>Pick the mode by what you have: queries, finished answers, or live traces.</a:t>
            </a:r>
            <a:endParaRPr lang="en-US" sz="1500" dirty="0"/>
          </a:p>
        </p:txBody>
      </p:sp>
      <p:sp>
        <p:nvSpPr>
          <p:cNvPr id="8" name="Text 6"/>
          <p:cNvSpPr/>
          <p:nvPr/>
        </p:nvSpPr>
        <p:spPr>
          <a:xfrm>
            <a:off x="812800" y="3035250"/>
            <a:ext cx="134441"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A65A"/>
                </a:solidFill>
                <a:latin typeface="JetBrains Mono" pitchFamily="49" charset="0"/>
                <a:ea typeface="JetBrains Mono" pitchFamily="49" charset="-122"/>
                <a:cs typeface="JetBrains Mono" pitchFamily="49" charset="-120"/>
              </a:rPr>
              <a:t>3</a:t>
            </a:r>
            <a:endParaRPr lang="en-US" sz="2000" dirty="0"/>
          </a:p>
        </p:txBody>
      </p:sp>
      <p:sp>
        <p:nvSpPr>
          <p:cNvPr id="9" name="Text 7"/>
          <p:cNvSpPr/>
          <p:nvPr/>
        </p:nvSpPr>
        <p:spPr>
          <a:xfrm>
            <a:off x="1048841" y="3035250"/>
            <a:ext cx="504160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7F4"/>
                </a:solidFill>
                <a:latin typeface="IBM Plex Sans" pitchFamily="34" charset="0"/>
                <a:ea typeface="IBM Plex Sans" pitchFamily="34" charset="-122"/>
                <a:cs typeface="IBM Plex Sans" pitchFamily="34" charset="-120"/>
              </a:rPr>
              <a:t>Keep every evaluator’s reason; the five-dimension MNG rubric’s weighted aggregate is the one hard gate.</a:t>
            </a:r>
            <a:endParaRPr lang="en-US" sz="1500" dirty="0"/>
          </a:p>
        </p:txBody>
      </p:sp>
      <p:sp>
        <p:nvSpPr>
          <p:cNvPr id="10" name="Text 8"/>
          <p:cNvSpPr/>
          <p:nvPr/>
        </p:nvSpPr>
        <p:spPr>
          <a:xfrm>
            <a:off x="6248400" y="3035250"/>
            <a:ext cx="12779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A65A"/>
                </a:solidFill>
                <a:latin typeface="JetBrains Mono" pitchFamily="49" charset="0"/>
                <a:ea typeface="JetBrains Mono" pitchFamily="49" charset="-122"/>
                <a:cs typeface="JetBrains Mono" pitchFamily="49" charset="-120"/>
              </a:rPr>
              <a:t>4</a:t>
            </a:r>
            <a:endParaRPr lang="en-US" sz="2000" dirty="0"/>
          </a:p>
        </p:txBody>
      </p:sp>
      <p:sp>
        <p:nvSpPr>
          <p:cNvPr id="11" name="Text 9"/>
          <p:cNvSpPr/>
          <p:nvPr/>
        </p:nvSpPr>
        <p:spPr>
          <a:xfrm>
            <a:off x="6477794" y="3035250"/>
            <a:ext cx="504844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7F4"/>
                </a:solidFill>
                <a:latin typeface="IBM Plex Sans" pitchFamily="34" charset="0"/>
                <a:ea typeface="IBM Plex Sans" pitchFamily="34" charset="-122"/>
                <a:cs typeface="IBM Plex Sans" pitchFamily="34" charset="-120"/>
              </a:rPr>
              <a:t>Behind the VNet, never send data inline: upload JSONL datasets, run by file_id in batches of 25, merge by case_id.</a:t>
            </a:r>
            <a:endParaRPr lang="en-US" sz="15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B8"/>
                </a:solidFill>
                <a:latin typeface="IBM Plex Sans" pitchFamily="34" charset="0"/>
                <a:ea typeface="IBM Plex Sans" pitchFamily="34" charset="-122"/>
                <a:cs typeface="IBM Plex Sans" pitchFamily="34" charset="-120"/>
              </a:rPr>
              <a:t>Sources: Microsoft Learn — Evaluate your AI agents; Evaluate query-response datasets; Register external agents · 19</a:t>
            </a:r>
            <a:endParaRPr lang="en-US" sz="1200" dirty="0"/>
          </a:p>
        </p:txBody>
      </p:sp>
    </p:spTree>
  </p:cSld>
  <p:clrMapOvr>
    <a:masterClrMapping/>
  </p:clrMapOvr>
</p:sld>
</file>

<file path=ppt/theme/theme1.xml><?xml version="1.0" encoding="utf-8"?>
<a:theme xmlns:a="http://schemas.openxmlformats.org/drawingml/2006/main" name="Microsoft Foundry Agent Evaluation">
  <a:themeElements>
    <a:clrScheme name="Microsoft Foundry Agent Evaluation">
      <a:dk1>
        <a:srgbClr val="14213D"/>
      </a:dk1>
      <a:lt1>
        <a:srgbClr val="F6F7F4"/>
      </a:lt1>
      <a:dk2>
        <a:srgbClr val="4D576B"/>
      </a:dk2>
      <a:lt2>
        <a:srgbClr val="DFE2E2"/>
      </a:lt2>
      <a:accent1>
        <a:srgbClr val="2458C8"/>
      </a:accent1>
      <a:accent2>
        <a:srgbClr val="F2A65A"/>
      </a:accent2>
      <a:accent3>
        <a:srgbClr val="8FA0B8"/>
      </a:accent3>
      <a:accent4>
        <a:srgbClr val="E07A2E"/>
      </a:accent4>
      <a:accent5>
        <a:srgbClr val="7FA6FF"/>
      </a:accent5>
      <a:accent6>
        <a:srgbClr val="C2611B"/>
      </a:accent6>
      <a:hlink>
        <a:srgbClr val="0563C1"/>
      </a:hlink>
      <a:folHlink>
        <a:srgbClr val="954F72"/>
      </a:folHlink>
    </a:clrScheme>
    <a:fontScheme name="Microsoft Foundry Agent Evalu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Foundry Agent Evaluation</dc:title>
  <dc:subject/>
  <dc:creator/>
  <cp:lastModifiedBy/>
  <cp:revision>1</cp:revision>
  <dcterms:created xsi:type="dcterms:W3CDTF">2026-10-20T14:30:04Z</dcterms:created>
  <dcterms:modified xsi:type="dcterms:W3CDTF">2026-10-20T14:30:04Z</dcterms:modified>
</cp:coreProperties>
</file>